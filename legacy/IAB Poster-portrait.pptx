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5661600" cy="41879838"/>
  <p:notesSz cx="7102475" cy="8991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1" userDrawn="1">
          <p15:clr>
            <a:srgbClr val="A4A3A4"/>
          </p15:clr>
        </p15:guide>
        <p15:guide id="2" orient="horz" pos="3481" userDrawn="1">
          <p15:clr>
            <a:srgbClr val="A4A3A4"/>
          </p15:clr>
        </p15:guide>
        <p15:guide id="3" orient="horz" pos="5374" userDrawn="1">
          <p15:clr>
            <a:srgbClr val="A4A3A4"/>
          </p15:clr>
        </p15:guide>
        <p15:guide id="4" orient="horz" pos="25709" userDrawn="1">
          <p15:clr>
            <a:srgbClr val="A4A3A4"/>
          </p15:clr>
        </p15:guide>
        <p15:guide id="5" pos="401" userDrawn="1">
          <p15:clr>
            <a:srgbClr val="A4A3A4"/>
          </p15:clr>
        </p15:guide>
        <p15:guide id="6" pos="5516" userDrawn="1">
          <p15:clr>
            <a:srgbClr val="A4A3A4"/>
          </p15:clr>
        </p15:guide>
        <p15:guide id="7" pos="5917" userDrawn="1">
          <p15:clr>
            <a:srgbClr val="A4A3A4"/>
          </p15:clr>
        </p15:guide>
        <p15:guide id="8" pos="11065" userDrawn="1">
          <p15:clr>
            <a:srgbClr val="A4A3A4"/>
          </p15:clr>
        </p15:guide>
        <p15:guide id="9" pos="11433" userDrawn="1">
          <p15:clr>
            <a:srgbClr val="A4A3A4"/>
          </p15:clr>
        </p15:guide>
        <p15:guide id="10" pos="16547" userDrawn="1">
          <p15:clr>
            <a:srgbClr val="A4A3A4"/>
          </p15:clr>
        </p15:guide>
        <p15:guide id="11" pos="16915" userDrawn="1">
          <p15:clr>
            <a:srgbClr val="A4A3A4"/>
          </p15:clr>
        </p15:guide>
        <p15:guide id="12" pos="220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6EF"/>
    <a:srgbClr val="CBECDE"/>
    <a:srgbClr val="FF9900"/>
    <a:srgbClr val="990033"/>
    <a:srgbClr val="FF5050"/>
    <a:srgbClr val="9E1B32"/>
    <a:srgbClr val="848707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29" autoAdjust="0"/>
    <p:restoredTop sz="94799" autoAdjust="0"/>
  </p:normalViewPr>
  <p:slideViewPr>
    <p:cSldViewPr>
      <p:cViewPr>
        <p:scale>
          <a:sx n="20" d="100"/>
          <a:sy n="20" d="100"/>
        </p:scale>
        <p:origin x="666" y="-1704"/>
      </p:cViewPr>
      <p:guideLst>
        <p:guide orient="horz" pos="611"/>
        <p:guide orient="horz" pos="3481"/>
        <p:guide orient="horz" pos="5374"/>
        <p:guide orient="horz" pos="25709"/>
        <p:guide pos="401"/>
        <p:guide pos="5516"/>
        <p:guide pos="5917"/>
        <p:guide pos="11065"/>
        <p:guide pos="11433"/>
        <p:guide pos="16547"/>
        <p:guide pos="16915"/>
        <p:guide pos="220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8162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542338"/>
            <a:ext cx="3078163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8542338"/>
            <a:ext cx="307816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E9B445F-233D-4F9A-BC38-50AC405D563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9420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B52777E9-8390-4319-B6D5-F6C5D3346FFF}" type="datetimeFigureOut">
              <a:rPr lang="en-US"/>
              <a:pPr>
                <a:defRPr/>
              </a:pPr>
              <a:t>3/5/2019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16138" y="674688"/>
            <a:ext cx="2870200" cy="3371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270375"/>
            <a:ext cx="5683250" cy="4046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4075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540750"/>
            <a:ext cx="3078163" cy="4492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FD1CDCE-6365-4C2F-9690-64E3A1C73E6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27046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116138" y="674688"/>
            <a:ext cx="2870200" cy="33718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10774E-3D3C-4978-8183-60C3A2BC7A77}" type="slidenum">
              <a:rPr lang="en-US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297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4400" y="13010702"/>
            <a:ext cx="30312802" cy="89754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48799" y="23731100"/>
            <a:ext cx="24964004" cy="10704241"/>
          </a:xfrm>
        </p:spPr>
        <p:txBody>
          <a:bodyPr/>
          <a:lstStyle>
            <a:lvl1pPr marL="0" indent="0" algn="ctr">
              <a:buNone/>
              <a:defRPr/>
            </a:lvl1pPr>
            <a:lvl2pPr marL="318378" indent="0" algn="ctr">
              <a:buNone/>
              <a:defRPr/>
            </a:lvl2pPr>
            <a:lvl3pPr marL="636756" indent="0" algn="ctr">
              <a:buNone/>
              <a:defRPr/>
            </a:lvl3pPr>
            <a:lvl4pPr marL="955134" indent="0" algn="ctr">
              <a:buNone/>
              <a:defRPr/>
            </a:lvl4pPr>
            <a:lvl5pPr marL="1273512" indent="0" algn="ctr">
              <a:buNone/>
              <a:defRPr/>
            </a:lvl5pPr>
            <a:lvl6pPr marL="1591890" indent="0" algn="ctr">
              <a:buNone/>
              <a:defRPr/>
            </a:lvl6pPr>
            <a:lvl7pPr marL="1910268" indent="0" algn="ctr">
              <a:buNone/>
              <a:defRPr/>
            </a:lvl7pPr>
            <a:lvl8pPr marL="2228646" indent="0" algn="ctr">
              <a:buNone/>
              <a:defRPr/>
            </a:lvl8pPr>
            <a:lvl9pPr marL="2547023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892D4-FCC4-4E22-B12E-95075174809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0720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BBF96-64B7-4E40-986D-89AEA849C65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6386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7019" y="26912080"/>
            <a:ext cx="30312802" cy="8316993"/>
          </a:xfrm>
        </p:spPr>
        <p:txBody>
          <a:bodyPr anchor="t"/>
          <a:lstStyle>
            <a:lvl1pPr algn="l">
              <a:defRPr sz="2786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7019" y="17750863"/>
            <a:ext cx="30312802" cy="9161215"/>
          </a:xfrm>
        </p:spPr>
        <p:txBody>
          <a:bodyPr anchor="b"/>
          <a:lstStyle>
            <a:lvl1pPr marL="0" indent="0">
              <a:buNone/>
              <a:defRPr sz="1393"/>
            </a:lvl1pPr>
            <a:lvl2pPr marL="318378" indent="0">
              <a:buNone/>
              <a:defRPr sz="1254"/>
            </a:lvl2pPr>
            <a:lvl3pPr marL="636756" indent="0">
              <a:buNone/>
              <a:defRPr sz="1114"/>
            </a:lvl3pPr>
            <a:lvl4pPr marL="955134" indent="0">
              <a:buNone/>
              <a:defRPr sz="975"/>
            </a:lvl4pPr>
            <a:lvl5pPr marL="1273512" indent="0">
              <a:buNone/>
              <a:defRPr sz="975"/>
            </a:lvl5pPr>
            <a:lvl6pPr marL="1591890" indent="0">
              <a:buNone/>
              <a:defRPr sz="975"/>
            </a:lvl6pPr>
            <a:lvl7pPr marL="1910268" indent="0">
              <a:buNone/>
              <a:defRPr sz="975"/>
            </a:lvl7pPr>
            <a:lvl8pPr marL="2228646" indent="0">
              <a:buNone/>
              <a:defRPr sz="975"/>
            </a:lvl8pPr>
            <a:lvl9pPr marL="2547023" indent="0">
              <a:buNone/>
              <a:defRPr sz="9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A5244-2E60-4ABF-AF2F-869E583CD2E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8008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4401" y="12097814"/>
            <a:ext cx="15103333" cy="25128711"/>
          </a:xfrm>
        </p:spPr>
        <p:txBody>
          <a:bodyPr/>
          <a:lstStyle>
            <a:lvl1pPr>
              <a:defRPr sz="1950"/>
            </a:lvl1pPr>
            <a:lvl2pPr>
              <a:defRPr sz="1671"/>
            </a:lvl2pPr>
            <a:lvl3pPr>
              <a:defRPr sz="1393"/>
            </a:lvl3pPr>
            <a:lvl4pPr>
              <a:defRPr sz="1254"/>
            </a:lvl4pPr>
            <a:lvl5pPr>
              <a:defRPr sz="1254"/>
            </a:lvl5pPr>
            <a:lvl6pPr>
              <a:defRPr sz="1254"/>
            </a:lvl6pPr>
            <a:lvl7pPr>
              <a:defRPr sz="1254"/>
            </a:lvl7pPr>
            <a:lvl8pPr>
              <a:defRPr sz="1254"/>
            </a:lvl8pPr>
            <a:lvl9pPr>
              <a:defRPr sz="1254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883868" y="12097814"/>
            <a:ext cx="15103334" cy="25128711"/>
          </a:xfrm>
        </p:spPr>
        <p:txBody>
          <a:bodyPr/>
          <a:lstStyle>
            <a:lvl1pPr>
              <a:defRPr sz="1950"/>
            </a:lvl1pPr>
            <a:lvl2pPr>
              <a:defRPr sz="1671"/>
            </a:lvl2pPr>
            <a:lvl3pPr>
              <a:defRPr sz="1393"/>
            </a:lvl3pPr>
            <a:lvl4pPr>
              <a:defRPr sz="1254"/>
            </a:lvl4pPr>
            <a:lvl5pPr>
              <a:defRPr sz="1254"/>
            </a:lvl5pPr>
            <a:lvl6pPr>
              <a:defRPr sz="1254"/>
            </a:lvl6pPr>
            <a:lvl7pPr>
              <a:defRPr sz="1254"/>
            </a:lvl7pPr>
            <a:lvl8pPr>
              <a:defRPr sz="1254"/>
            </a:lvl8pPr>
            <a:lvl9pPr>
              <a:defRPr sz="1254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D41AF-FF21-4E5E-953B-AAE9D052467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3896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3302" y="1676326"/>
            <a:ext cx="32094998" cy="697997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3302" y="9375300"/>
            <a:ext cx="15756731" cy="3906038"/>
          </a:xfrm>
        </p:spPr>
        <p:txBody>
          <a:bodyPr anchor="b"/>
          <a:lstStyle>
            <a:lvl1pPr marL="0" indent="0">
              <a:buNone/>
              <a:defRPr sz="1671" b="1"/>
            </a:lvl1pPr>
            <a:lvl2pPr marL="318378" indent="0">
              <a:buNone/>
              <a:defRPr sz="1393" b="1"/>
            </a:lvl2pPr>
            <a:lvl3pPr marL="636756" indent="0">
              <a:buNone/>
              <a:defRPr sz="1254" b="1"/>
            </a:lvl3pPr>
            <a:lvl4pPr marL="955134" indent="0">
              <a:buNone/>
              <a:defRPr sz="1114" b="1"/>
            </a:lvl4pPr>
            <a:lvl5pPr marL="1273512" indent="0">
              <a:buNone/>
              <a:defRPr sz="1114" b="1"/>
            </a:lvl5pPr>
            <a:lvl6pPr marL="1591890" indent="0">
              <a:buNone/>
              <a:defRPr sz="1114" b="1"/>
            </a:lvl6pPr>
            <a:lvl7pPr marL="1910268" indent="0">
              <a:buNone/>
              <a:defRPr sz="1114" b="1"/>
            </a:lvl7pPr>
            <a:lvl8pPr marL="2228646" indent="0">
              <a:buNone/>
              <a:defRPr sz="1114" b="1"/>
            </a:lvl8pPr>
            <a:lvl9pPr marL="2547023" indent="0">
              <a:buNone/>
              <a:defRPr sz="111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83302" y="13281339"/>
            <a:ext cx="15756731" cy="24128976"/>
          </a:xfrm>
        </p:spPr>
        <p:txBody>
          <a:bodyPr/>
          <a:lstStyle>
            <a:lvl1pPr>
              <a:defRPr sz="1671"/>
            </a:lvl1pPr>
            <a:lvl2pPr>
              <a:defRPr sz="1393"/>
            </a:lvl2pPr>
            <a:lvl3pPr>
              <a:defRPr sz="1254"/>
            </a:lvl3pPr>
            <a:lvl4pPr>
              <a:defRPr sz="1114"/>
            </a:lvl4pPr>
            <a:lvl5pPr>
              <a:defRPr sz="1114"/>
            </a:lvl5pPr>
            <a:lvl6pPr>
              <a:defRPr sz="1114"/>
            </a:lvl6pPr>
            <a:lvl7pPr>
              <a:defRPr sz="1114"/>
            </a:lvl7pPr>
            <a:lvl8pPr>
              <a:defRPr sz="1114"/>
            </a:lvl8pPr>
            <a:lvl9pPr>
              <a:defRPr sz="1114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116039" y="9375300"/>
            <a:ext cx="15762260" cy="3906038"/>
          </a:xfrm>
        </p:spPr>
        <p:txBody>
          <a:bodyPr anchor="b"/>
          <a:lstStyle>
            <a:lvl1pPr marL="0" indent="0">
              <a:buNone/>
              <a:defRPr sz="1671" b="1"/>
            </a:lvl1pPr>
            <a:lvl2pPr marL="318378" indent="0">
              <a:buNone/>
              <a:defRPr sz="1393" b="1"/>
            </a:lvl2pPr>
            <a:lvl3pPr marL="636756" indent="0">
              <a:buNone/>
              <a:defRPr sz="1254" b="1"/>
            </a:lvl3pPr>
            <a:lvl4pPr marL="955134" indent="0">
              <a:buNone/>
              <a:defRPr sz="1114" b="1"/>
            </a:lvl4pPr>
            <a:lvl5pPr marL="1273512" indent="0">
              <a:buNone/>
              <a:defRPr sz="1114" b="1"/>
            </a:lvl5pPr>
            <a:lvl6pPr marL="1591890" indent="0">
              <a:buNone/>
              <a:defRPr sz="1114" b="1"/>
            </a:lvl6pPr>
            <a:lvl7pPr marL="1910268" indent="0">
              <a:buNone/>
              <a:defRPr sz="1114" b="1"/>
            </a:lvl7pPr>
            <a:lvl8pPr marL="2228646" indent="0">
              <a:buNone/>
              <a:defRPr sz="1114" b="1"/>
            </a:lvl8pPr>
            <a:lvl9pPr marL="2547023" indent="0">
              <a:buNone/>
              <a:defRPr sz="111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116039" y="13281339"/>
            <a:ext cx="15762260" cy="24128976"/>
          </a:xfrm>
        </p:spPr>
        <p:txBody>
          <a:bodyPr/>
          <a:lstStyle>
            <a:lvl1pPr>
              <a:defRPr sz="1671"/>
            </a:lvl1pPr>
            <a:lvl2pPr>
              <a:defRPr sz="1393"/>
            </a:lvl2pPr>
            <a:lvl3pPr>
              <a:defRPr sz="1254"/>
            </a:lvl3pPr>
            <a:lvl4pPr>
              <a:defRPr sz="1114"/>
            </a:lvl4pPr>
            <a:lvl5pPr>
              <a:defRPr sz="1114"/>
            </a:lvl5pPr>
            <a:lvl6pPr>
              <a:defRPr sz="1114"/>
            </a:lvl6pPr>
            <a:lvl7pPr>
              <a:defRPr sz="1114"/>
            </a:lvl7pPr>
            <a:lvl8pPr>
              <a:defRPr sz="1114"/>
            </a:lvl8pPr>
            <a:lvl9pPr>
              <a:defRPr sz="1114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1D03A-C1E5-4C2B-8FC7-B9B1798B1B5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9990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9A5C6-6D56-4766-A49A-4446423D6A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58249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1F25C-19E2-4127-BD7D-B23885553FE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163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3301" y="1668247"/>
            <a:ext cx="11732419" cy="7095095"/>
          </a:xfrm>
        </p:spPr>
        <p:txBody>
          <a:bodyPr anchor="b"/>
          <a:lstStyle>
            <a:lvl1pPr algn="l">
              <a:defRPr sz="139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2474" y="1668246"/>
            <a:ext cx="19935825" cy="35742067"/>
          </a:xfrm>
        </p:spPr>
        <p:txBody>
          <a:bodyPr/>
          <a:lstStyle>
            <a:lvl1pPr>
              <a:defRPr sz="2228"/>
            </a:lvl1pPr>
            <a:lvl2pPr>
              <a:defRPr sz="1950"/>
            </a:lvl2pPr>
            <a:lvl3pPr>
              <a:defRPr sz="1671"/>
            </a:lvl3pPr>
            <a:lvl4pPr>
              <a:defRPr sz="1393"/>
            </a:lvl4pPr>
            <a:lvl5pPr>
              <a:defRPr sz="1393"/>
            </a:lvl5pPr>
            <a:lvl6pPr>
              <a:defRPr sz="1393"/>
            </a:lvl6pPr>
            <a:lvl7pPr>
              <a:defRPr sz="1393"/>
            </a:lvl7pPr>
            <a:lvl8pPr>
              <a:defRPr sz="1393"/>
            </a:lvl8pPr>
            <a:lvl9pPr>
              <a:defRPr sz="139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3301" y="8763340"/>
            <a:ext cx="11732419" cy="28646973"/>
          </a:xfrm>
        </p:spPr>
        <p:txBody>
          <a:bodyPr/>
          <a:lstStyle>
            <a:lvl1pPr marL="0" indent="0">
              <a:buNone/>
              <a:defRPr sz="975"/>
            </a:lvl1pPr>
            <a:lvl2pPr marL="318378" indent="0">
              <a:buNone/>
              <a:defRPr sz="836"/>
            </a:lvl2pPr>
            <a:lvl3pPr marL="636756" indent="0">
              <a:buNone/>
              <a:defRPr sz="696"/>
            </a:lvl3pPr>
            <a:lvl4pPr marL="955134" indent="0">
              <a:buNone/>
              <a:defRPr sz="627"/>
            </a:lvl4pPr>
            <a:lvl5pPr marL="1273512" indent="0">
              <a:buNone/>
              <a:defRPr sz="627"/>
            </a:lvl5pPr>
            <a:lvl6pPr marL="1591890" indent="0">
              <a:buNone/>
              <a:defRPr sz="627"/>
            </a:lvl6pPr>
            <a:lvl7pPr marL="1910268" indent="0">
              <a:buNone/>
              <a:defRPr sz="627"/>
            </a:lvl7pPr>
            <a:lvl8pPr marL="2228646" indent="0">
              <a:buNone/>
              <a:defRPr sz="627"/>
            </a:lvl8pPr>
            <a:lvl9pPr marL="2547023" indent="0">
              <a:buNone/>
              <a:defRPr sz="62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77716-19D7-45EA-BEA7-EB675FAEEE7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954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9479" y="29315485"/>
            <a:ext cx="21397402" cy="3461711"/>
          </a:xfrm>
        </p:spPr>
        <p:txBody>
          <a:bodyPr anchor="b"/>
          <a:lstStyle>
            <a:lvl1pPr algn="l">
              <a:defRPr sz="139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989479" y="3742446"/>
            <a:ext cx="21397402" cy="25126690"/>
          </a:xfrm>
        </p:spPr>
        <p:txBody>
          <a:bodyPr/>
          <a:lstStyle>
            <a:lvl1pPr marL="0" indent="0">
              <a:buNone/>
              <a:defRPr sz="2228"/>
            </a:lvl1pPr>
            <a:lvl2pPr marL="318378" indent="0">
              <a:buNone/>
              <a:defRPr sz="1950"/>
            </a:lvl2pPr>
            <a:lvl3pPr marL="636756" indent="0">
              <a:buNone/>
              <a:defRPr sz="1671"/>
            </a:lvl3pPr>
            <a:lvl4pPr marL="955134" indent="0">
              <a:buNone/>
              <a:defRPr sz="1393"/>
            </a:lvl4pPr>
            <a:lvl5pPr marL="1273512" indent="0">
              <a:buNone/>
              <a:defRPr sz="1393"/>
            </a:lvl5pPr>
            <a:lvl6pPr marL="1591890" indent="0">
              <a:buNone/>
              <a:defRPr sz="1393"/>
            </a:lvl6pPr>
            <a:lvl7pPr marL="1910268" indent="0">
              <a:buNone/>
              <a:defRPr sz="1393"/>
            </a:lvl7pPr>
            <a:lvl8pPr marL="2228646" indent="0">
              <a:buNone/>
              <a:defRPr sz="1393"/>
            </a:lvl8pPr>
            <a:lvl9pPr marL="2547023" indent="0">
              <a:buNone/>
              <a:defRPr sz="1393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89479" y="32777195"/>
            <a:ext cx="21397402" cy="4913852"/>
          </a:xfrm>
        </p:spPr>
        <p:txBody>
          <a:bodyPr/>
          <a:lstStyle>
            <a:lvl1pPr marL="0" indent="0">
              <a:buNone/>
              <a:defRPr sz="975"/>
            </a:lvl1pPr>
            <a:lvl2pPr marL="318378" indent="0">
              <a:buNone/>
              <a:defRPr sz="836"/>
            </a:lvl2pPr>
            <a:lvl3pPr marL="636756" indent="0">
              <a:buNone/>
              <a:defRPr sz="696"/>
            </a:lvl3pPr>
            <a:lvl4pPr marL="955134" indent="0">
              <a:buNone/>
              <a:defRPr sz="627"/>
            </a:lvl4pPr>
            <a:lvl5pPr marL="1273512" indent="0">
              <a:buNone/>
              <a:defRPr sz="627"/>
            </a:lvl5pPr>
            <a:lvl6pPr marL="1591890" indent="0">
              <a:buNone/>
              <a:defRPr sz="627"/>
            </a:lvl6pPr>
            <a:lvl7pPr marL="1910268" indent="0">
              <a:buNone/>
              <a:defRPr sz="627"/>
            </a:lvl7pPr>
            <a:lvl8pPr marL="2228646" indent="0">
              <a:buNone/>
              <a:defRPr sz="627"/>
            </a:lvl8pPr>
            <a:lvl9pPr marL="2547023" indent="0">
              <a:buNone/>
              <a:defRPr sz="62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A9EAC-67F0-4220-9020-F746E4C0E3A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1705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B0188-D94B-4041-8584-C69DFE228F1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8528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409555" y="3722249"/>
            <a:ext cx="7577648" cy="3350427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4400" y="3722249"/>
            <a:ext cx="22629019" cy="3350427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D030E-EB1A-4904-AE60-5BDC6B6F862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1694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674400" y="3722249"/>
            <a:ext cx="30312802" cy="6979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80709" tIns="240355" rIns="480709" bIns="24035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74400" y="12097814"/>
            <a:ext cx="30312802" cy="25128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74399" y="38157592"/>
            <a:ext cx="7429500" cy="2791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5153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184602" y="38157592"/>
            <a:ext cx="11292398" cy="2791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5153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7701" y="38157592"/>
            <a:ext cx="7429500" cy="2791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5153"/>
            </a:lvl1pPr>
          </a:lstStyle>
          <a:p>
            <a:pPr>
              <a:defRPr/>
            </a:pPr>
            <a:fld id="{95DA34D0-32F3-47BA-AE8D-30CBACAB122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347390" rtl="0" eaLnBrk="0" fontAlgn="base" hangingPunct="0">
        <a:spcBef>
          <a:spcPct val="0"/>
        </a:spcBef>
        <a:spcAft>
          <a:spcPct val="0"/>
        </a:spcAft>
        <a:defRPr sz="16086">
          <a:solidFill>
            <a:schemeClr val="tx2"/>
          </a:solidFill>
          <a:latin typeface="+mj-lt"/>
          <a:ea typeface="+mj-ea"/>
          <a:cs typeface="+mj-cs"/>
        </a:defRPr>
      </a:lvl1pPr>
      <a:lvl2pPr algn="ctr" defTabSz="3347390" rtl="0" eaLnBrk="0" fontAlgn="base" hangingPunct="0">
        <a:spcBef>
          <a:spcPct val="0"/>
        </a:spcBef>
        <a:spcAft>
          <a:spcPct val="0"/>
        </a:spcAft>
        <a:defRPr sz="16086">
          <a:solidFill>
            <a:schemeClr val="tx2"/>
          </a:solidFill>
          <a:latin typeface="Times New Roman" charset="0"/>
        </a:defRPr>
      </a:lvl2pPr>
      <a:lvl3pPr algn="ctr" defTabSz="3347390" rtl="0" eaLnBrk="0" fontAlgn="base" hangingPunct="0">
        <a:spcBef>
          <a:spcPct val="0"/>
        </a:spcBef>
        <a:spcAft>
          <a:spcPct val="0"/>
        </a:spcAft>
        <a:defRPr sz="16086">
          <a:solidFill>
            <a:schemeClr val="tx2"/>
          </a:solidFill>
          <a:latin typeface="Times New Roman" charset="0"/>
        </a:defRPr>
      </a:lvl3pPr>
      <a:lvl4pPr algn="ctr" defTabSz="3347390" rtl="0" eaLnBrk="0" fontAlgn="base" hangingPunct="0">
        <a:spcBef>
          <a:spcPct val="0"/>
        </a:spcBef>
        <a:spcAft>
          <a:spcPct val="0"/>
        </a:spcAft>
        <a:defRPr sz="16086">
          <a:solidFill>
            <a:schemeClr val="tx2"/>
          </a:solidFill>
          <a:latin typeface="Times New Roman" charset="0"/>
        </a:defRPr>
      </a:lvl4pPr>
      <a:lvl5pPr algn="ctr" defTabSz="3347390" rtl="0" eaLnBrk="0" fontAlgn="base" hangingPunct="0">
        <a:spcBef>
          <a:spcPct val="0"/>
        </a:spcBef>
        <a:spcAft>
          <a:spcPct val="0"/>
        </a:spcAft>
        <a:defRPr sz="16086">
          <a:solidFill>
            <a:schemeClr val="tx2"/>
          </a:solidFill>
          <a:latin typeface="Times New Roman" charset="0"/>
        </a:defRPr>
      </a:lvl5pPr>
      <a:lvl6pPr marL="318378" algn="ctr" defTabSz="3347390" rtl="0" fontAlgn="base">
        <a:spcBef>
          <a:spcPct val="0"/>
        </a:spcBef>
        <a:spcAft>
          <a:spcPct val="0"/>
        </a:spcAft>
        <a:defRPr sz="16086">
          <a:solidFill>
            <a:schemeClr val="tx2"/>
          </a:solidFill>
          <a:latin typeface="Times New Roman" charset="0"/>
        </a:defRPr>
      </a:lvl6pPr>
      <a:lvl7pPr marL="636756" algn="ctr" defTabSz="3347390" rtl="0" fontAlgn="base">
        <a:spcBef>
          <a:spcPct val="0"/>
        </a:spcBef>
        <a:spcAft>
          <a:spcPct val="0"/>
        </a:spcAft>
        <a:defRPr sz="16086">
          <a:solidFill>
            <a:schemeClr val="tx2"/>
          </a:solidFill>
          <a:latin typeface="Times New Roman" charset="0"/>
        </a:defRPr>
      </a:lvl7pPr>
      <a:lvl8pPr marL="955134" algn="ctr" defTabSz="3347390" rtl="0" fontAlgn="base">
        <a:spcBef>
          <a:spcPct val="0"/>
        </a:spcBef>
        <a:spcAft>
          <a:spcPct val="0"/>
        </a:spcAft>
        <a:defRPr sz="16086">
          <a:solidFill>
            <a:schemeClr val="tx2"/>
          </a:solidFill>
          <a:latin typeface="Times New Roman" charset="0"/>
        </a:defRPr>
      </a:lvl8pPr>
      <a:lvl9pPr marL="1273512" algn="ctr" defTabSz="3347390" rtl="0" fontAlgn="base">
        <a:spcBef>
          <a:spcPct val="0"/>
        </a:spcBef>
        <a:spcAft>
          <a:spcPct val="0"/>
        </a:spcAft>
        <a:defRPr sz="16086">
          <a:solidFill>
            <a:schemeClr val="tx2"/>
          </a:solidFill>
          <a:latin typeface="Times New Roman" charset="0"/>
        </a:defRPr>
      </a:lvl9pPr>
    </p:titleStyle>
    <p:bodyStyle>
      <a:lvl1pPr marL="1255824" indent="-1255824" algn="l" defTabSz="3347390" rtl="0" eaLnBrk="0" fontAlgn="base" hangingPunct="0">
        <a:spcBef>
          <a:spcPct val="20000"/>
        </a:spcBef>
        <a:spcAft>
          <a:spcPct val="0"/>
        </a:spcAft>
        <a:buChar char="•"/>
        <a:defRPr sz="11699">
          <a:solidFill>
            <a:schemeClr val="tx1"/>
          </a:solidFill>
          <a:latin typeface="+mn-lt"/>
          <a:ea typeface="+mn-ea"/>
          <a:cs typeface="+mn-cs"/>
        </a:defRPr>
      </a:lvl1pPr>
      <a:lvl2pPr marL="2719478" indent="-1045783" algn="l" defTabSz="3347390" rtl="0" eaLnBrk="0" fontAlgn="base" hangingPunct="0">
        <a:spcBef>
          <a:spcPct val="20000"/>
        </a:spcBef>
        <a:spcAft>
          <a:spcPct val="0"/>
        </a:spcAft>
        <a:buChar char="–"/>
        <a:defRPr sz="10236">
          <a:solidFill>
            <a:schemeClr val="tx1"/>
          </a:solidFill>
          <a:latin typeface="+mn-lt"/>
        </a:defRPr>
      </a:lvl2pPr>
      <a:lvl3pPr marL="4184238" indent="-836848" algn="l" defTabSz="3347390" rtl="0" eaLnBrk="0" fontAlgn="base" hangingPunct="0">
        <a:spcBef>
          <a:spcPct val="20000"/>
        </a:spcBef>
        <a:spcAft>
          <a:spcPct val="0"/>
        </a:spcAft>
        <a:buChar char="•"/>
        <a:defRPr sz="8775">
          <a:solidFill>
            <a:schemeClr val="tx1"/>
          </a:solidFill>
          <a:latin typeface="+mn-lt"/>
        </a:defRPr>
      </a:lvl3pPr>
      <a:lvl4pPr marL="5857933" indent="-836848" algn="l" defTabSz="3347390" rtl="0" eaLnBrk="0" fontAlgn="base" hangingPunct="0">
        <a:spcBef>
          <a:spcPct val="20000"/>
        </a:spcBef>
        <a:spcAft>
          <a:spcPct val="0"/>
        </a:spcAft>
        <a:buChar char="–"/>
        <a:defRPr sz="7312">
          <a:solidFill>
            <a:schemeClr val="tx1"/>
          </a:solidFill>
          <a:latin typeface="+mn-lt"/>
        </a:defRPr>
      </a:lvl4pPr>
      <a:lvl5pPr marL="7531628" indent="-836848" algn="l" defTabSz="3347390" rtl="0" eaLnBrk="0" fontAlgn="base" hangingPunct="0">
        <a:spcBef>
          <a:spcPct val="20000"/>
        </a:spcBef>
        <a:spcAft>
          <a:spcPct val="0"/>
        </a:spcAft>
        <a:buChar char="»"/>
        <a:defRPr sz="7312">
          <a:solidFill>
            <a:schemeClr val="tx1"/>
          </a:solidFill>
          <a:latin typeface="+mn-lt"/>
        </a:defRPr>
      </a:lvl5pPr>
      <a:lvl6pPr marL="7850006" indent="-836848" algn="l" defTabSz="3347390" rtl="0" fontAlgn="base">
        <a:spcBef>
          <a:spcPct val="20000"/>
        </a:spcBef>
        <a:spcAft>
          <a:spcPct val="0"/>
        </a:spcAft>
        <a:buChar char="»"/>
        <a:defRPr sz="7312">
          <a:solidFill>
            <a:schemeClr val="tx1"/>
          </a:solidFill>
          <a:latin typeface="+mn-lt"/>
        </a:defRPr>
      </a:lvl6pPr>
      <a:lvl7pPr marL="8168383" indent="-836848" algn="l" defTabSz="3347390" rtl="0" fontAlgn="base">
        <a:spcBef>
          <a:spcPct val="20000"/>
        </a:spcBef>
        <a:spcAft>
          <a:spcPct val="0"/>
        </a:spcAft>
        <a:buChar char="»"/>
        <a:defRPr sz="7312">
          <a:solidFill>
            <a:schemeClr val="tx1"/>
          </a:solidFill>
          <a:latin typeface="+mn-lt"/>
        </a:defRPr>
      </a:lvl7pPr>
      <a:lvl8pPr marL="8486761" indent="-836848" algn="l" defTabSz="3347390" rtl="0" fontAlgn="base">
        <a:spcBef>
          <a:spcPct val="20000"/>
        </a:spcBef>
        <a:spcAft>
          <a:spcPct val="0"/>
        </a:spcAft>
        <a:buChar char="»"/>
        <a:defRPr sz="7312">
          <a:solidFill>
            <a:schemeClr val="tx1"/>
          </a:solidFill>
          <a:latin typeface="+mn-lt"/>
        </a:defRPr>
      </a:lvl8pPr>
      <a:lvl9pPr marL="8805140" indent="-836848" algn="l" defTabSz="3347390" rtl="0" fontAlgn="base">
        <a:spcBef>
          <a:spcPct val="20000"/>
        </a:spcBef>
        <a:spcAft>
          <a:spcPct val="0"/>
        </a:spcAft>
        <a:buChar char="»"/>
        <a:defRPr sz="7312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36756" rtl="0" eaLnBrk="1" latinLnBrk="0" hangingPunct="1">
        <a:defRPr sz="1254" kern="1200">
          <a:solidFill>
            <a:schemeClr val="tx1"/>
          </a:solidFill>
          <a:latin typeface="+mn-lt"/>
          <a:ea typeface="+mn-ea"/>
          <a:cs typeface="+mn-cs"/>
        </a:defRPr>
      </a:lvl1pPr>
      <a:lvl2pPr marL="318378" algn="l" defTabSz="636756" rtl="0" eaLnBrk="1" latinLnBrk="0" hangingPunct="1">
        <a:defRPr sz="1254" kern="1200">
          <a:solidFill>
            <a:schemeClr val="tx1"/>
          </a:solidFill>
          <a:latin typeface="+mn-lt"/>
          <a:ea typeface="+mn-ea"/>
          <a:cs typeface="+mn-cs"/>
        </a:defRPr>
      </a:lvl2pPr>
      <a:lvl3pPr marL="636756" algn="l" defTabSz="636756" rtl="0" eaLnBrk="1" latinLnBrk="0" hangingPunct="1">
        <a:defRPr sz="1254" kern="1200">
          <a:solidFill>
            <a:schemeClr val="tx1"/>
          </a:solidFill>
          <a:latin typeface="+mn-lt"/>
          <a:ea typeface="+mn-ea"/>
          <a:cs typeface="+mn-cs"/>
        </a:defRPr>
      </a:lvl3pPr>
      <a:lvl4pPr marL="955134" algn="l" defTabSz="636756" rtl="0" eaLnBrk="1" latinLnBrk="0" hangingPunct="1">
        <a:defRPr sz="1254" kern="1200">
          <a:solidFill>
            <a:schemeClr val="tx1"/>
          </a:solidFill>
          <a:latin typeface="+mn-lt"/>
          <a:ea typeface="+mn-ea"/>
          <a:cs typeface="+mn-cs"/>
        </a:defRPr>
      </a:lvl4pPr>
      <a:lvl5pPr marL="1273512" algn="l" defTabSz="636756" rtl="0" eaLnBrk="1" latinLnBrk="0" hangingPunct="1">
        <a:defRPr sz="1254" kern="1200">
          <a:solidFill>
            <a:schemeClr val="tx1"/>
          </a:solidFill>
          <a:latin typeface="+mn-lt"/>
          <a:ea typeface="+mn-ea"/>
          <a:cs typeface="+mn-cs"/>
        </a:defRPr>
      </a:lvl5pPr>
      <a:lvl6pPr marL="1591890" algn="l" defTabSz="636756" rtl="0" eaLnBrk="1" latinLnBrk="0" hangingPunct="1">
        <a:defRPr sz="1254" kern="1200">
          <a:solidFill>
            <a:schemeClr val="tx1"/>
          </a:solidFill>
          <a:latin typeface="+mn-lt"/>
          <a:ea typeface="+mn-ea"/>
          <a:cs typeface="+mn-cs"/>
        </a:defRPr>
      </a:lvl6pPr>
      <a:lvl7pPr marL="1910268" algn="l" defTabSz="636756" rtl="0" eaLnBrk="1" latinLnBrk="0" hangingPunct="1">
        <a:defRPr sz="1254" kern="1200">
          <a:solidFill>
            <a:schemeClr val="tx1"/>
          </a:solidFill>
          <a:latin typeface="+mn-lt"/>
          <a:ea typeface="+mn-ea"/>
          <a:cs typeface="+mn-cs"/>
        </a:defRPr>
      </a:lvl7pPr>
      <a:lvl8pPr marL="2228646" algn="l" defTabSz="636756" rtl="0" eaLnBrk="1" latinLnBrk="0" hangingPunct="1">
        <a:defRPr sz="1254" kern="1200">
          <a:solidFill>
            <a:schemeClr val="tx1"/>
          </a:solidFill>
          <a:latin typeface="+mn-lt"/>
          <a:ea typeface="+mn-ea"/>
          <a:cs typeface="+mn-cs"/>
        </a:defRPr>
      </a:lvl8pPr>
      <a:lvl9pPr marL="2547023" algn="l" defTabSz="636756" rtl="0" eaLnBrk="1" latinLnBrk="0" hangingPunct="1">
        <a:defRPr sz="12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/>
            </a:gs>
            <a:gs pos="100000">
              <a:srgbClr val="60C99C"/>
            </a:gs>
            <a:gs pos="100000">
              <a:srgbClr val="00B0F0"/>
            </a:gs>
          </a:gsLst>
          <a:path path="rect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2" descr="http://www.northsouth.edu/assets/responsive/img/nsu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7800" y="1332844"/>
            <a:ext cx="3181860" cy="34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ounded Rectangle 24"/>
          <p:cNvSpPr/>
          <p:nvPr/>
        </p:nvSpPr>
        <p:spPr>
          <a:xfrm>
            <a:off x="209198" y="17022108"/>
            <a:ext cx="14345002" cy="1216152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  <a:endParaRPr lang="en-US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2" name="TextBox 35"/>
          <p:cNvSpPr txBox="1">
            <a:spLocks noChangeArrowheads="1"/>
          </p:cNvSpPr>
          <p:nvPr/>
        </p:nvSpPr>
        <p:spPr bwMode="auto">
          <a:xfrm>
            <a:off x="0" y="1512303"/>
            <a:ext cx="356616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5400" b="1" dirty="0">
                <a:solidFill>
                  <a:srgbClr val="FFC000"/>
                </a:solidFill>
              </a:rPr>
              <a:t>Mohammad Shafiqul Islam and Mohammad Rafsun Jany</a:t>
            </a:r>
          </a:p>
          <a:p>
            <a:pPr algn="ctr"/>
            <a:r>
              <a:rPr lang="en-US" altLang="en-US" sz="5400" b="1" dirty="0">
                <a:solidFill>
                  <a:srgbClr val="FFC000"/>
                </a:solidFill>
              </a:rPr>
              <a:t>Dr. Ahsanur Rahman (Supervisor)</a:t>
            </a:r>
          </a:p>
          <a:p>
            <a:pPr algn="ctr"/>
            <a:r>
              <a:rPr lang="en-US" altLang="en-US" sz="5400" b="1" dirty="0">
                <a:solidFill>
                  <a:srgbClr val="FFC000"/>
                </a:solidFill>
              </a:rPr>
              <a:t>Department of Electrical and Computer Engineering</a:t>
            </a:r>
          </a:p>
          <a:p>
            <a:pPr algn="ctr"/>
            <a:r>
              <a:rPr lang="en-US" altLang="en-US" sz="5400" b="1" dirty="0">
                <a:solidFill>
                  <a:srgbClr val="FFC000"/>
                </a:solidFill>
              </a:rPr>
              <a:t>North South </a:t>
            </a:r>
            <a:r>
              <a:rPr lang="en-US" altLang="en-US" sz="5400" b="1" dirty="0" smtClean="0">
                <a:solidFill>
                  <a:srgbClr val="FFC000"/>
                </a:solidFill>
              </a:rPr>
              <a:t>University</a:t>
            </a:r>
            <a:endParaRPr lang="en-US" altLang="en-US" sz="5400" b="1" dirty="0">
              <a:solidFill>
                <a:srgbClr val="FFC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01902" y="4997814"/>
            <a:ext cx="35020013" cy="1019330"/>
          </a:xfrm>
          <a:prstGeom prst="rect">
            <a:avLst/>
          </a:prstGeom>
          <a:solidFill>
            <a:srgbClr val="FFFF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400" b="1" dirty="0">
                <a:solidFill>
                  <a:srgbClr val="00B0F0"/>
                </a:solidFill>
              </a:rPr>
              <a:t>mdshafiqul.islam@northsouth.edu, jany.mahin@northsouth.edu, ahsanur.rahman@northsouth.edu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-15081"/>
            <a:ext cx="35661600" cy="148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53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Mining Periodic </a:t>
            </a:r>
            <a:r>
              <a:rPr lang="en-US" sz="9053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Subgraphs </a:t>
            </a:r>
            <a:r>
              <a:rPr lang="en-US" sz="9053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 Drosophila Developmental Networks </a:t>
            </a:r>
            <a:endParaRPr lang="en-US" sz="9053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5519" y="18529788"/>
            <a:ext cx="14298681" cy="26776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96958" indent="-596958">
              <a:buFont typeface="Wingdings" panose="05000000000000000000" pitchFamily="2" charset="2"/>
              <a:buChar char="Ø"/>
              <a:defRPr/>
            </a:pPr>
            <a:r>
              <a:rPr lang="en-US" sz="4200" dirty="0"/>
              <a:t>66 temporal networks [2] inferred from the expressions of 588 genes</a:t>
            </a:r>
            <a:r>
              <a:rPr lang="en-US" sz="4200" dirty="0"/>
              <a:t> </a:t>
            </a:r>
            <a:r>
              <a:rPr lang="en-US" sz="4200" dirty="0"/>
              <a:t>involved in the development of Drosophila.</a:t>
            </a:r>
            <a:endParaRPr lang="en-US" sz="4200" dirty="0"/>
          </a:p>
          <a:p>
            <a:pPr marL="596958" indent="-596958">
              <a:buFont typeface="Wingdings" panose="05000000000000000000" pitchFamily="2" charset="2"/>
              <a:buChar char="Ø"/>
              <a:defRPr/>
            </a:pPr>
            <a:r>
              <a:rPr lang="en-US" sz="4200" dirty="0"/>
              <a:t>An edge between two genes in a network indicates that these genes are probably co-regulated at that time.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9197" y="30378975"/>
            <a:ext cx="14345001" cy="26776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96958" indent="-596958">
              <a:buFont typeface="Wingdings" panose="05000000000000000000" pitchFamily="2" charset="2"/>
              <a:buChar char="Ø"/>
              <a:defRPr/>
            </a:pPr>
            <a:r>
              <a:rPr lang="en-US" sz="4200" dirty="0"/>
              <a:t>Mining </a:t>
            </a:r>
            <a:r>
              <a:rPr lang="en-US" sz="4200" dirty="0"/>
              <a:t>PSEs </a:t>
            </a:r>
            <a:r>
              <a:rPr lang="en-US" sz="4200" dirty="0"/>
              <a:t>in </a:t>
            </a:r>
            <a:r>
              <a:rPr lang="en-US" sz="4200" dirty="0"/>
              <a:t>non-developmental networks and interpret those results.</a:t>
            </a:r>
          </a:p>
          <a:p>
            <a:pPr marL="596958" indent="-596958">
              <a:buFont typeface="Wingdings" panose="05000000000000000000" pitchFamily="2" charset="2"/>
              <a:buChar char="Ø"/>
              <a:defRPr/>
            </a:pPr>
            <a:r>
              <a:rPr lang="en-US" sz="4200" dirty="0"/>
              <a:t>Redefine PSE in such a that fewer parameters are needed from the user.</a:t>
            </a:r>
            <a:endParaRPr lang="en-US" sz="4200" dirty="0"/>
          </a:p>
        </p:txBody>
      </p:sp>
      <p:sp>
        <p:nvSpPr>
          <p:cNvPr id="20" name="Rounded Rectangle 19"/>
          <p:cNvSpPr/>
          <p:nvPr/>
        </p:nvSpPr>
        <p:spPr>
          <a:xfrm>
            <a:off x="15011400" y="15171890"/>
            <a:ext cx="20210518" cy="1159625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Largest Component of a PSE (p = 2, s = 8</a:t>
            </a:r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11400" y="25632055"/>
            <a:ext cx="20210518" cy="1216152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596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of Functional Enrichment Analysis</a:t>
            </a:r>
            <a:endParaRPr lang="en-US" sz="4596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09198" y="6072102"/>
            <a:ext cx="14345000" cy="1215378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 Subgraph Embedding (PSE) Illustration</a:t>
            </a:r>
            <a:endParaRPr lang="en-US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55518" y="35001247"/>
            <a:ext cx="14298680" cy="618630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96958" indent="-596958">
              <a:buFont typeface="+mj-lt"/>
              <a:buAutoNum type="arabicPeriod"/>
              <a:defRPr/>
            </a:pPr>
            <a:r>
              <a:rPr lang="en-US" sz="3600" i="1" dirty="0"/>
              <a:t>A. Apostolico, M. Barbares, C. Pizzi, Speedup for a periodic subgraph miner, </a:t>
            </a:r>
            <a:r>
              <a:rPr lang="en-US" sz="3600" dirty="0"/>
              <a:t>Information Processing Letters</a:t>
            </a:r>
            <a:r>
              <a:rPr lang="en-US" sz="3600" i="1" dirty="0"/>
              <a:t>, </a:t>
            </a:r>
            <a:r>
              <a:rPr lang="en-US" sz="3600" i="1" dirty="0"/>
              <a:t>Volume </a:t>
            </a:r>
            <a:r>
              <a:rPr lang="en-US" sz="3600" i="1" dirty="0"/>
              <a:t>111, Issue 11, 2011, </a:t>
            </a:r>
            <a:r>
              <a:rPr lang="en-US" sz="3600" i="1" dirty="0"/>
              <a:t>pp. </a:t>
            </a:r>
            <a:r>
              <a:rPr lang="en-US" sz="3600" i="1" dirty="0"/>
              <a:t>521-523.</a:t>
            </a:r>
          </a:p>
          <a:p>
            <a:pPr marL="596958" indent="-596958">
              <a:buFont typeface="+mj-lt"/>
              <a:buAutoNum type="arabicPeriod"/>
              <a:defRPr/>
            </a:pPr>
            <a:r>
              <a:rPr lang="en-US" sz="3600" i="1" dirty="0"/>
              <a:t>L. Song, M. Kolar, E. P. Xing; KELLER: estimating time-varying interactions between genes, </a:t>
            </a:r>
            <a:r>
              <a:rPr lang="en-US" sz="3600" dirty="0"/>
              <a:t>Bioinformatics</a:t>
            </a:r>
            <a:r>
              <a:rPr lang="en-US" sz="3600" i="1" dirty="0"/>
              <a:t>, Volume 25, Issue 12, 2009, </a:t>
            </a:r>
            <a:r>
              <a:rPr lang="en-US" sz="3600" i="1" dirty="0"/>
              <a:t>pp. </a:t>
            </a:r>
            <a:r>
              <a:rPr lang="en-US" sz="3600" i="1" dirty="0"/>
              <a:t>i128–i136.</a:t>
            </a:r>
          </a:p>
          <a:p>
            <a:pPr marL="596958" indent="-596958">
              <a:buFont typeface="+mj-lt"/>
              <a:buAutoNum type="arabicPeriod"/>
              <a:defRPr/>
            </a:pPr>
            <a:r>
              <a:rPr lang="en-US" sz="3600" i="1" dirty="0"/>
              <a:t>S. Bauer, P. N. Robinson, J. </a:t>
            </a:r>
            <a:r>
              <a:rPr lang="en-US" sz="3600" i="1" dirty="0"/>
              <a:t>Gagneur, Model-based </a:t>
            </a:r>
            <a:r>
              <a:rPr lang="en-US" sz="3600" i="1" dirty="0"/>
              <a:t>gene set analysis for </a:t>
            </a:r>
            <a:r>
              <a:rPr lang="en-US" sz="3600" i="1" dirty="0"/>
              <a:t>Bioconductor, </a:t>
            </a:r>
            <a:r>
              <a:rPr lang="en-US" sz="3600" dirty="0"/>
              <a:t>Bioinformatics</a:t>
            </a:r>
            <a:r>
              <a:rPr lang="en-US" sz="3600" i="1" dirty="0"/>
              <a:t>, volume 27, Issue 13, 2011, </a:t>
            </a:r>
            <a:r>
              <a:rPr lang="en-US" sz="3600" i="1" dirty="0"/>
              <a:t>pp. </a:t>
            </a:r>
            <a:r>
              <a:rPr lang="en-US" sz="3600" i="1" dirty="0"/>
              <a:t>1882-1883.</a:t>
            </a:r>
          </a:p>
          <a:p>
            <a:pPr marL="596958" indent="-596958">
              <a:buFont typeface="+mj-lt"/>
              <a:buAutoNum type="arabicPeriod"/>
              <a:defRPr/>
            </a:pPr>
            <a:r>
              <a:rPr lang="en-US" sz="3600" i="1" dirty="0"/>
              <a:t>G. F. Berriz, J. E. Beaver, C. Cenik, M. Tasan, F. P. Roth, </a:t>
            </a:r>
            <a:r>
              <a:rPr lang="en-US" sz="3600" i="1" dirty="0"/>
              <a:t>Next </a:t>
            </a:r>
            <a:r>
              <a:rPr lang="en-US" sz="3600" i="1" dirty="0"/>
              <a:t>generation software for functional trend </a:t>
            </a:r>
            <a:r>
              <a:rPr lang="en-US" sz="3600" i="1" dirty="0"/>
              <a:t>analysis, </a:t>
            </a:r>
            <a:r>
              <a:rPr lang="en-US" sz="3600" dirty="0"/>
              <a:t>Bioinformatics</a:t>
            </a:r>
            <a:r>
              <a:rPr lang="en-US" sz="3600" i="1" dirty="0"/>
              <a:t>, </a:t>
            </a:r>
            <a:r>
              <a:rPr lang="en-US" sz="3600" i="1" dirty="0"/>
              <a:t>Volume </a:t>
            </a:r>
            <a:r>
              <a:rPr lang="en-US" sz="3600" i="1" dirty="0"/>
              <a:t>25, Issue 22, 2009, </a:t>
            </a:r>
            <a:r>
              <a:rPr lang="en-US" sz="3600" i="1" dirty="0"/>
              <a:t>pp. </a:t>
            </a:r>
            <a:r>
              <a:rPr lang="en-US" sz="3600" i="1" dirty="0"/>
              <a:t>3043-3044.</a:t>
            </a:r>
            <a:endParaRPr lang="en-US" sz="3600" dirty="0"/>
          </a:p>
        </p:txBody>
      </p:sp>
      <p:sp>
        <p:nvSpPr>
          <p:cNvPr id="156" name="Rounded Rectangle 155"/>
          <p:cNvSpPr/>
          <p:nvPr/>
        </p:nvSpPr>
        <p:spPr>
          <a:xfrm>
            <a:off x="201902" y="33478342"/>
            <a:ext cx="14344294" cy="1216152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596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09198" y="28789070"/>
            <a:ext cx="14345001" cy="1216152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Work</a:t>
            </a:r>
          </a:p>
        </p:txBody>
      </p:sp>
      <p:pic>
        <p:nvPicPr>
          <p:cNvPr id="4150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1400" y="16630630"/>
            <a:ext cx="20210518" cy="8699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51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t="2277" r="33530" b="25993"/>
          <a:stretch>
            <a:fillRect/>
          </a:stretch>
        </p:blipFill>
        <p:spPr bwMode="auto">
          <a:xfrm>
            <a:off x="15110273" y="7615988"/>
            <a:ext cx="20111646" cy="635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8117800" y="11426984"/>
            <a:ext cx="6306060" cy="1938992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glow rad="127000">
              <a:schemeClr val="accent1">
                <a:alpha val="0"/>
              </a:schemeClr>
            </a:glo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dirty="0"/>
              <a:t>p</a:t>
            </a:r>
            <a:r>
              <a:rPr lang="en-US" sz="4000" dirty="0"/>
              <a:t>: Period</a:t>
            </a:r>
            <a:endParaRPr lang="en-US" sz="4000" dirty="0"/>
          </a:p>
          <a:p>
            <a:pPr>
              <a:defRPr/>
            </a:pPr>
            <a:r>
              <a:rPr lang="en-US" sz="4000" dirty="0"/>
              <a:t>s</a:t>
            </a:r>
            <a:r>
              <a:rPr lang="en-US" sz="4000" dirty="0"/>
              <a:t>: Support</a:t>
            </a:r>
            <a:endParaRPr lang="en-US" sz="4000" dirty="0"/>
          </a:p>
          <a:p>
            <a:pPr>
              <a:defRPr/>
            </a:pPr>
            <a:r>
              <a:rPr lang="en-US" sz="4000" dirty="0"/>
              <a:t>Cell: No. </a:t>
            </a:r>
            <a:r>
              <a:rPr lang="en-US" sz="4000" dirty="0"/>
              <a:t>of </a:t>
            </a:r>
            <a:r>
              <a:rPr lang="en-US" sz="4000" dirty="0"/>
              <a:t>Genes in PSE</a:t>
            </a:r>
            <a:endParaRPr lang="en-US" sz="4000" dirty="0"/>
          </a:p>
        </p:txBody>
      </p:sp>
      <p:sp>
        <p:nvSpPr>
          <p:cNvPr id="168" name="Rounded Rectangle 167"/>
          <p:cNvSpPr/>
          <p:nvPr/>
        </p:nvSpPr>
        <p:spPr>
          <a:xfrm>
            <a:off x="15011401" y="6072102"/>
            <a:ext cx="20210518" cy="1215378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Choice of Parameters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118675" y="14105255"/>
            <a:ext cx="20103243" cy="7386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4200" dirty="0"/>
              <a:t>Parameters are chosen in such a way that </a:t>
            </a:r>
            <a:r>
              <a:rPr lang="en-US" sz="4200" dirty="0"/>
              <a:t>period</a:t>
            </a:r>
            <a:r>
              <a:rPr lang="en-US" sz="4200" dirty="0"/>
              <a:t>, </a:t>
            </a:r>
            <a:r>
              <a:rPr lang="en-US" sz="4200" dirty="0"/>
              <a:t>support, no</a:t>
            </a:r>
            <a:r>
              <a:rPr lang="en-US" sz="4200" dirty="0"/>
              <a:t>. of genes </a:t>
            </a:r>
            <a:r>
              <a:rPr lang="en-US" sz="4200" dirty="0"/>
              <a:t>– none is too </a:t>
            </a:r>
            <a:r>
              <a:rPr lang="en-US" sz="4200" dirty="0"/>
              <a:t>low.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040793" y="27150449"/>
            <a:ext cx="20181123" cy="738664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200" b="1" dirty="0"/>
              <a:t>MGSA [3] enrichment of the largest </a:t>
            </a:r>
            <a:r>
              <a:rPr lang="en-US" sz="4200" b="1" dirty="0"/>
              <a:t>component </a:t>
            </a:r>
            <a:r>
              <a:rPr lang="en-US" sz="4200" b="1" dirty="0"/>
              <a:t>in </a:t>
            </a:r>
            <a:r>
              <a:rPr lang="en-US" sz="4200" b="1" dirty="0"/>
              <a:t>each PSE</a:t>
            </a:r>
            <a:endParaRPr lang="en-US" sz="4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5070188" y="33529117"/>
            <a:ext cx="20151727" cy="1384995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200" b="1" dirty="0"/>
              <a:t>FuncAssociate [4] enrichment of sorted (by degrees) list of nodes in </a:t>
            </a:r>
            <a:r>
              <a:rPr lang="en-US" sz="4200" b="1" dirty="0"/>
              <a:t>the largest component </a:t>
            </a:r>
            <a:r>
              <a:rPr lang="en-US" sz="4200" b="1" dirty="0"/>
              <a:t>in each </a:t>
            </a:r>
            <a:r>
              <a:rPr lang="en-US" sz="4200" b="1" dirty="0"/>
              <a:t>PSE</a:t>
            </a:r>
            <a:endParaRPr lang="en-US" sz="4200" b="1" dirty="0"/>
          </a:p>
        </p:txBody>
      </p:sp>
      <p:pic>
        <p:nvPicPr>
          <p:cNvPr id="4158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" t="4544" r="2039" b="8784"/>
          <a:stretch>
            <a:fillRect/>
          </a:stretch>
        </p:blipFill>
        <p:spPr bwMode="auto">
          <a:xfrm>
            <a:off x="15040793" y="28079027"/>
            <a:ext cx="20181123" cy="5251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59" name="Picture 3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" t="5785" r="1526" b="6313"/>
          <a:stretch>
            <a:fillRect/>
          </a:stretch>
        </p:blipFill>
        <p:spPr bwMode="auto">
          <a:xfrm>
            <a:off x="15070188" y="35113118"/>
            <a:ext cx="20151727" cy="5138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29"/>
          <p:cNvGrpSpPr/>
          <p:nvPr/>
        </p:nvGrpSpPr>
        <p:grpSpPr>
          <a:xfrm>
            <a:off x="209198" y="7549529"/>
            <a:ext cx="14345002" cy="9095863"/>
            <a:chOff x="300387" y="9314788"/>
            <a:chExt cx="18623321" cy="8376003"/>
          </a:xfrm>
        </p:grpSpPr>
        <p:grpSp>
          <p:nvGrpSpPr>
            <p:cNvPr id="24" name="Group 23"/>
            <p:cNvGrpSpPr/>
            <p:nvPr/>
          </p:nvGrpSpPr>
          <p:grpSpPr>
            <a:xfrm>
              <a:off x="300387" y="9314788"/>
              <a:ext cx="3180232" cy="5619267"/>
              <a:chOff x="300387" y="9218041"/>
              <a:chExt cx="3180232" cy="5876629"/>
            </a:xfrm>
          </p:grpSpPr>
          <p:sp>
            <p:nvSpPr>
              <p:cNvPr id="148" name="TextBox 147"/>
              <p:cNvSpPr txBox="1"/>
              <p:nvPr/>
            </p:nvSpPr>
            <p:spPr>
              <a:xfrm>
                <a:off x="300387" y="9218041"/>
                <a:ext cx="3180232" cy="5876629"/>
              </a:xfrm>
              <a:prstGeom prst="rect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en-US" sz="4200" dirty="0">
                    <a:solidFill>
                      <a:schemeClr val="bg1"/>
                    </a:solidFill>
                  </a:rPr>
                  <a:t>t = 1</a:t>
                </a:r>
                <a:endParaRPr lang="en-US" sz="4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134" name="Straight Connector 4133"/>
              <p:cNvCxnSpPr/>
              <p:nvPr/>
            </p:nvCxnSpPr>
            <p:spPr>
              <a:xfrm flipV="1">
                <a:off x="873433" y="11874500"/>
                <a:ext cx="735013" cy="94138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6" name="Straight Connector 4135"/>
              <p:cNvCxnSpPr/>
              <p:nvPr/>
            </p:nvCxnSpPr>
            <p:spPr>
              <a:xfrm>
                <a:off x="2005320" y="11725517"/>
                <a:ext cx="761795" cy="1163063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31" name="Oval 4130"/>
              <p:cNvSpPr/>
              <p:nvPr/>
            </p:nvSpPr>
            <p:spPr>
              <a:xfrm>
                <a:off x="432005" y="9508111"/>
                <a:ext cx="845497" cy="9262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4596" b="1" i="1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2460570" y="9547440"/>
                <a:ext cx="850392" cy="92354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4596" b="1" i="1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427513" y="12728477"/>
                <a:ext cx="845497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d</a:t>
                </a:r>
                <a:endParaRPr lang="en-US" sz="4596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2466382" y="12661621"/>
                <a:ext cx="850392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e</a:t>
                </a:r>
                <a:endParaRPr lang="en-US" sz="4596" b="1" i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138" name="Straight Connector 4137"/>
              <p:cNvCxnSpPr/>
              <p:nvPr/>
            </p:nvCxnSpPr>
            <p:spPr>
              <a:xfrm>
                <a:off x="1136782" y="10271926"/>
                <a:ext cx="625475" cy="104933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0" name="Straight Connector 4139"/>
              <p:cNvCxnSpPr/>
              <p:nvPr/>
            </p:nvCxnSpPr>
            <p:spPr>
              <a:xfrm flipH="1">
                <a:off x="2097970" y="10279497"/>
                <a:ext cx="665205" cy="1085288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Oval 101"/>
              <p:cNvSpPr/>
              <p:nvPr/>
            </p:nvSpPr>
            <p:spPr>
              <a:xfrm>
                <a:off x="1455661" y="11160608"/>
                <a:ext cx="854357" cy="92447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a</a:t>
                </a:r>
                <a:endParaRPr lang="en-US" sz="4596" i="1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11874911" y="9314788"/>
              <a:ext cx="3180232" cy="5619267"/>
              <a:chOff x="11953893" y="9247335"/>
              <a:chExt cx="3180232" cy="5876629"/>
            </a:xfrm>
          </p:grpSpPr>
          <p:sp>
            <p:nvSpPr>
              <p:cNvPr id="113" name="TextBox 112"/>
              <p:cNvSpPr txBox="1"/>
              <p:nvPr/>
            </p:nvSpPr>
            <p:spPr>
              <a:xfrm>
                <a:off x="11953893" y="9247335"/>
                <a:ext cx="3180232" cy="5876629"/>
              </a:xfrm>
              <a:prstGeom prst="rect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en-US" sz="4200" dirty="0">
                    <a:solidFill>
                      <a:schemeClr val="bg1"/>
                    </a:solidFill>
                  </a:rPr>
                  <a:t>t = 4</a:t>
                </a:r>
                <a:endParaRPr lang="en-US" sz="4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12116667" y="9521352"/>
                <a:ext cx="845497" cy="9262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4596" b="1" i="1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14145232" y="9560681"/>
                <a:ext cx="850392" cy="92354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4596" b="1" i="1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90" name="Straight Connector 89"/>
              <p:cNvCxnSpPr>
                <a:endCxn id="87" idx="2"/>
              </p:cNvCxnSpPr>
              <p:nvPr/>
            </p:nvCxnSpPr>
            <p:spPr>
              <a:xfrm>
                <a:off x="12891804" y="10022453"/>
                <a:ext cx="1253428" cy="0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8016737" y="9314788"/>
              <a:ext cx="3180232" cy="5619267"/>
              <a:chOff x="7543800" y="9259957"/>
              <a:chExt cx="3180232" cy="587662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543800" y="9259957"/>
                <a:ext cx="3180232" cy="5876629"/>
              </a:xfrm>
              <a:prstGeom prst="rect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en-US" sz="4200" dirty="0">
                    <a:solidFill>
                      <a:schemeClr val="bg1"/>
                    </a:solidFill>
                  </a:rPr>
                  <a:t>t = 3</a:t>
                </a:r>
                <a:endParaRPr lang="en-US" sz="4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1" name="Straight Connector 70"/>
              <p:cNvCxnSpPr/>
              <p:nvPr/>
            </p:nvCxnSpPr>
            <p:spPr>
              <a:xfrm flipV="1">
                <a:off x="8085669" y="11891339"/>
                <a:ext cx="735013" cy="94138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9217556" y="11742356"/>
                <a:ext cx="761795" cy="1163063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/>
              <p:cNvSpPr/>
              <p:nvPr/>
            </p:nvSpPr>
            <p:spPr>
              <a:xfrm>
                <a:off x="7644241" y="9524950"/>
                <a:ext cx="845497" cy="9262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4596" b="1" i="1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9672806" y="9564279"/>
                <a:ext cx="850392" cy="92354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4596" b="1" i="1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7639749" y="12745316"/>
                <a:ext cx="845497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d</a:t>
                </a:r>
                <a:endParaRPr lang="en-US" sz="4596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9678618" y="12678460"/>
                <a:ext cx="850392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e</a:t>
                </a:r>
                <a:endParaRPr lang="en-US" sz="4596" b="1" i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1" name="Straight Connector 110"/>
              <p:cNvCxnSpPr/>
              <p:nvPr/>
            </p:nvCxnSpPr>
            <p:spPr>
              <a:xfrm flipH="1">
                <a:off x="9243028" y="10363578"/>
                <a:ext cx="665205" cy="1085288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8281840" y="10356007"/>
                <a:ext cx="625475" cy="104933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/>
              <p:cNvSpPr/>
              <p:nvPr/>
            </p:nvSpPr>
            <p:spPr>
              <a:xfrm>
                <a:off x="8667897" y="11177447"/>
                <a:ext cx="854357" cy="92447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a</a:t>
                </a:r>
                <a:endParaRPr lang="en-US" sz="4596" i="1" dirty="0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5733085" y="9314788"/>
              <a:ext cx="3180232" cy="5619267"/>
              <a:chOff x="15733085" y="9214370"/>
              <a:chExt cx="3180232" cy="5876629"/>
            </a:xfrm>
          </p:grpSpPr>
          <p:cxnSp>
            <p:nvCxnSpPr>
              <p:cNvPr id="94" name="Straight Connector 93"/>
              <p:cNvCxnSpPr/>
              <p:nvPr/>
            </p:nvCxnSpPr>
            <p:spPr>
              <a:xfrm flipV="1">
                <a:off x="16348778" y="11849597"/>
                <a:ext cx="735013" cy="94138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>
                <a:off x="17480665" y="11700614"/>
                <a:ext cx="761795" cy="1163063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Oval 97"/>
              <p:cNvSpPr/>
              <p:nvPr/>
            </p:nvSpPr>
            <p:spPr>
              <a:xfrm>
                <a:off x="15902858" y="12703574"/>
                <a:ext cx="845497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d</a:t>
                </a:r>
                <a:endParaRPr lang="en-US" sz="4596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17941727" y="12636718"/>
                <a:ext cx="850392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e</a:t>
                </a:r>
                <a:endParaRPr lang="en-US" sz="4596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16931006" y="11135705"/>
                <a:ext cx="854357" cy="92447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a</a:t>
                </a:r>
                <a:endParaRPr lang="en-US" sz="4596" i="1" dirty="0"/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15733085" y="9214370"/>
                <a:ext cx="3180232" cy="5876629"/>
              </a:xfrm>
              <a:prstGeom prst="rect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en-US" sz="4200" dirty="0">
                    <a:solidFill>
                      <a:schemeClr val="bg1"/>
                    </a:solidFill>
                  </a:rPr>
                  <a:t>t = 5</a:t>
                </a:r>
                <a:endParaRPr lang="en-US" sz="4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158562" y="9314788"/>
              <a:ext cx="3180232" cy="5619267"/>
              <a:chOff x="3997670" y="9262924"/>
              <a:chExt cx="3180232" cy="5876629"/>
            </a:xfrm>
          </p:grpSpPr>
          <p:sp>
            <p:nvSpPr>
              <p:cNvPr id="108" name="TextBox 107"/>
              <p:cNvSpPr txBox="1"/>
              <p:nvPr/>
            </p:nvSpPr>
            <p:spPr>
              <a:xfrm>
                <a:off x="3997670" y="9262924"/>
                <a:ext cx="3180232" cy="5876629"/>
              </a:xfrm>
              <a:prstGeom prst="rect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en-US" sz="4200" dirty="0">
                    <a:solidFill>
                      <a:schemeClr val="bg1"/>
                    </a:solidFill>
                  </a:rPr>
                  <a:t>t = 2</a:t>
                </a:r>
                <a:endParaRPr lang="en-US" sz="4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14" name="Straight Connector 113"/>
              <p:cNvCxnSpPr/>
              <p:nvPr/>
            </p:nvCxnSpPr>
            <p:spPr>
              <a:xfrm flipV="1">
                <a:off x="4617152" y="11886294"/>
                <a:ext cx="735013" cy="94138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Oval 114"/>
              <p:cNvSpPr/>
              <p:nvPr/>
            </p:nvSpPr>
            <p:spPr>
              <a:xfrm>
                <a:off x="4171232" y="12740271"/>
                <a:ext cx="845497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d</a:t>
                </a:r>
                <a:endParaRPr lang="en-US" sz="4596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5199380" y="11172402"/>
                <a:ext cx="854357" cy="92447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4596" b="1" i="1" dirty="0">
                    <a:solidFill>
                      <a:schemeClr val="tx1"/>
                    </a:solidFill>
                  </a:rPr>
                  <a:t>a</a:t>
                </a:r>
                <a:endParaRPr lang="en-US" sz="4596" i="1" dirty="0"/>
              </a:p>
            </p:txBody>
          </p:sp>
        </p:grpSp>
        <p:sp>
          <p:nvSpPr>
            <p:cNvPr id="117" name="TextBox 116"/>
            <p:cNvSpPr txBox="1"/>
            <p:nvPr/>
          </p:nvSpPr>
          <p:spPr>
            <a:xfrm>
              <a:off x="300387" y="15225049"/>
              <a:ext cx="18623321" cy="246574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596958" indent="-596958">
                <a:buFont typeface="Wingdings" panose="05000000000000000000" pitchFamily="2" charset="2"/>
                <a:buChar char="Ø"/>
                <a:defRPr/>
              </a:pPr>
              <a:r>
                <a:rPr lang="en-US" sz="4200" dirty="0"/>
                <a:t>A PSE with period </a:t>
              </a:r>
              <a:r>
                <a:rPr lang="en-US" sz="4200" i="1" dirty="0"/>
                <a:t>p </a:t>
              </a:r>
              <a:r>
                <a:rPr lang="en-US" sz="4200" dirty="0"/>
                <a:t>and support </a:t>
              </a:r>
              <a:r>
                <a:rPr lang="en-US" sz="4200" i="1" dirty="0"/>
                <a:t>s </a:t>
              </a:r>
              <a:r>
                <a:rPr lang="en-US" sz="4200" dirty="0"/>
                <a:t>is a subgraph which occurs in at least </a:t>
              </a:r>
              <a:r>
                <a:rPr lang="en-US" sz="4200" i="1" dirty="0"/>
                <a:t>s </a:t>
              </a:r>
              <a:r>
                <a:rPr lang="en-US" sz="4200" dirty="0"/>
                <a:t>graphs that are separated by p timepoints.</a:t>
              </a:r>
            </a:p>
            <a:p>
              <a:pPr marL="596958" indent="-596958">
                <a:buFont typeface="Wingdings" panose="05000000000000000000" pitchFamily="2" charset="2"/>
                <a:buChar char="Ø"/>
                <a:defRPr/>
              </a:pPr>
              <a:r>
                <a:rPr lang="en-US" sz="4200" dirty="0"/>
                <a:t>Here {(a,d), (d,e)} is a PSE with period 2 and support 3.</a:t>
              </a:r>
            </a:p>
            <a:p>
              <a:pPr marL="596958" indent="-596958">
                <a:buFont typeface="Wingdings" panose="05000000000000000000" pitchFamily="2" charset="2"/>
                <a:buChar char="Ø"/>
                <a:defRPr/>
              </a:pPr>
              <a:r>
                <a:rPr lang="en-US" sz="4200" dirty="0"/>
                <a:t>{(a,d)} is another PSE with period 1 and support 3.</a:t>
              </a:r>
              <a:endParaRPr lang="en-US" sz="4200" dirty="0"/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255518" y="23133246"/>
            <a:ext cx="14298681" cy="52629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96958" indent="-596958">
              <a:buFont typeface="Wingdings" panose="05000000000000000000" pitchFamily="2" charset="2"/>
              <a:buChar char="Ø"/>
              <a:defRPr/>
            </a:pPr>
            <a:r>
              <a:rPr lang="en-US" sz="4200" dirty="0"/>
              <a:t>Choose </a:t>
            </a:r>
            <a:r>
              <a:rPr lang="en-US" sz="4200" dirty="0"/>
              <a:t>suitable period (p) </a:t>
            </a:r>
            <a:r>
              <a:rPr lang="en-US" sz="4200" dirty="0"/>
              <a:t>and </a:t>
            </a:r>
            <a:r>
              <a:rPr lang="en-US" sz="4200" dirty="0"/>
              <a:t>support (s) cut-offs.</a:t>
            </a:r>
            <a:endParaRPr lang="en-US" sz="4200" dirty="0"/>
          </a:p>
          <a:p>
            <a:pPr marL="596958" indent="-596958">
              <a:buFont typeface="Wingdings" panose="05000000000000000000" pitchFamily="2" charset="2"/>
              <a:buChar char="Ø"/>
              <a:defRPr/>
            </a:pPr>
            <a:r>
              <a:rPr lang="en-US" sz="4200" dirty="0"/>
              <a:t>Compute PSEs with ListMiner tool [1] using those cut-offs as parameters.</a:t>
            </a:r>
            <a:endParaRPr lang="en-US" sz="4200" dirty="0"/>
          </a:p>
          <a:p>
            <a:pPr marL="596958" indent="-596958">
              <a:buFont typeface="Wingdings" panose="05000000000000000000" pitchFamily="2" charset="2"/>
              <a:buChar char="Ø"/>
              <a:defRPr/>
            </a:pPr>
            <a:r>
              <a:rPr lang="en-US" sz="4200" dirty="0"/>
              <a:t>Find the largest connected component in those PSEs.</a:t>
            </a:r>
          </a:p>
          <a:p>
            <a:pPr marL="596958" indent="-596958">
              <a:buFont typeface="Wingdings" panose="05000000000000000000" pitchFamily="2" charset="2"/>
              <a:buChar char="Ø"/>
              <a:defRPr/>
            </a:pPr>
            <a:r>
              <a:rPr lang="en-US" sz="4200" dirty="0"/>
              <a:t>Compute functional enrichment of </a:t>
            </a:r>
            <a:r>
              <a:rPr lang="en-US" sz="4200" dirty="0"/>
              <a:t>genes covered by </a:t>
            </a:r>
            <a:r>
              <a:rPr lang="en-US" sz="4200" dirty="0"/>
              <a:t>this component using MGSA algorithm [3].</a:t>
            </a:r>
            <a:endParaRPr lang="en-US" sz="4200" dirty="0"/>
          </a:p>
          <a:p>
            <a:pPr marL="596958" indent="-596958">
              <a:buFont typeface="Wingdings" panose="05000000000000000000" pitchFamily="2" charset="2"/>
              <a:buChar char="Ø"/>
              <a:defRPr/>
            </a:pPr>
            <a:r>
              <a:rPr lang="en-US" sz="4200" dirty="0"/>
              <a:t>Sort the nodes (genes) in that component by their degrees and compute the enrichment of this sorted list [4].</a:t>
            </a:r>
            <a:endParaRPr lang="en-US" sz="4200" dirty="0"/>
          </a:p>
        </p:txBody>
      </p:sp>
      <p:sp>
        <p:nvSpPr>
          <p:cNvPr id="122" name="Rounded Rectangle 121"/>
          <p:cNvSpPr/>
          <p:nvPr/>
        </p:nvSpPr>
        <p:spPr>
          <a:xfrm>
            <a:off x="209198" y="21606884"/>
            <a:ext cx="14345002" cy="1216152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</a:t>
            </a:r>
            <a:endParaRPr lang="en-US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5126696" y="40448892"/>
            <a:ext cx="20095219" cy="7386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200" dirty="0"/>
              <a:t>Both PSEs gave the same enrichment in the analysis of sorted lists.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3437</TotalTime>
  <Words>530</Words>
  <Application>Microsoft Office PowerPoint</Application>
  <PresentationFormat>Custom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Times New Roman</vt:lpstr>
      <vt:lpstr>Wingdings</vt:lpstr>
      <vt:lpstr>Default Design</vt:lpstr>
      <vt:lpstr>PowerPoint Presentation</vt:lpstr>
    </vt:vector>
  </TitlesOfParts>
  <Company>The New England College of Optometry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Poster Template</dc:title>
  <dc:subject>Poster Template</dc:subject>
  <dc:creator>Marek Jacisin</dc:creator>
  <cp:lastModifiedBy>Dell</cp:lastModifiedBy>
  <cp:revision>161</cp:revision>
  <dcterms:created xsi:type="dcterms:W3CDTF">2001-10-18T16:42:36Z</dcterms:created>
  <dcterms:modified xsi:type="dcterms:W3CDTF">2019-03-05T05:36:18Z</dcterms:modified>
</cp:coreProperties>
</file>