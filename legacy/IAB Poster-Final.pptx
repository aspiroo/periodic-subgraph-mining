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51206400" cy="32918400"/>
  <p:notesSz cx="7102475" cy="89916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80">
          <p15:clr>
            <a:srgbClr val="A4A3A4"/>
          </p15:clr>
        </p15:guide>
        <p15:guide id="2" orient="horz" pos="2736">
          <p15:clr>
            <a:srgbClr val="A4A3A4"/>
          </p15:clr>
        </p15:guide>
        <p15:guide id="3" orient="horz" pos="4224">
          <p15:clr>
            <a:srgbClr val="A4A3A4"/>
          </p15:clr>
        </p15:guide>
        <p15:guide id="4" orient="horz" pos="20208">
          <p15:clr>
            <a:srgbClr val="A4A3A4"/>
          </p15:clr>
        </p15:guide>
        <p15:guide id="5" pos="576">
          <p15:clr>
            <a:srgbClr val="A4A3A4"/>
          </p15:clr>
        </p15:guide>
        <p15:guide id="6" pos="7920">
          <p15:clr>
            <a:srgbClr val="A4A3A4"/>
          </p15:clr>
        </p15:guide>
        <p15:guide id="7" pos="8496">
          <p15:clr>
            <a:srgbClr val="A4A3A4"/>
          </p15:clr>
        </p15:guide>
        <p15:guide id="8" pos="15888">
          <p15:clr>
            <a:srgbClr val="A4A3A4"/>
          </p15:clr>
        </p15:guide>
        <p15:guide id="9" pos="16416">
          <p15:clr>
            <a:srgbClr val="A4A3A4"/>
          </p15:clr>
        </p15:guide>
        <p15:guide id="10" pos="23760">
          <p15:clr>
            <a:srgbClr val="A4A3A4"/>
          </p15:clr>
        </p15:guide>
        <p15:guide id="11" pos="24288">
          <p15:clr>
            <a:srgbClr val="A4A3A4"/>
          </p15:clr>
        </p15:guide>
        <p15:guide id="12" pos="316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F6EF"/>
    <a:srgbClr val="CBECDE"/>
    <a:srgbClr val="FF9900"/>
    <a:srgbClr val="990033"/>
    <a:srgbClr val="FF5050"/>
    <a:srgbClr val="9E1B32"/>
    <a:srgbClr val="848707"/>
    <a:srgbClr val="99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29" autoAdjust="0"/>
    <p:restoredTop sz="94799" autoAdjust="0"/>
  </p:normalViewPr>
  <p:slideViewPr>
    <p:cSldViewPr>
      <p:cViewPr varScale="1">
        <p:scale>
          <a:sx n="17" d="100"/>
          <a:sy n="17" d="100"/>
        </p:scale>
        <p:origin x="1464" y="125"/>
      </p:cViewPr>
      <p:guideLst>
        <p:guide orient="horz" pos="480"/>
        <p:guide orient="horz" pos="2736"/>
        <p:guide orient="horz" pos="4224"/>
        <p:guide orient="horz" pos="20208"/>
        <p:guide pos="576"/>
        <p:guide pos="7920"/>
        <p:guide pos="8496"/>
        <p:guide pos="15888"/>
        <p:guide pos="16416"/>
        <p:guide pos="23760"/>
        <p:guide pos="24288"/>
        <p:guide pos="316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8163" cy="449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4313" y="0"/>
            <a:ext cx="3078162" cy="449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0" name="Rectangle 102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542338"/>
            <a:ext cx="3078163" cy="449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1" name="Rectangle 102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4313" y="8542338"/>
            <a:ext cx="3078162" cy="449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6E9B445F-233D-4F9A-BC38-50AC405D5634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794209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4492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2725" y="0"/>
            <a:ext cx="3078163" cy="4492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Times New Roman" charset="0"/>
              </a:defRPr>
            </a:lvl1pPr>
          </a:lstStyle>
          <a:p>
            <a:pPr>
              <a:defRPr/>
            </a:pPr>
            <a:fld id="{B52777E9-8390-4319-B6D5-F6C5D3346FFF}" type="datetimeFigureOut">
              <a:rPr lang="en-US"/>
              <a:pPr>
                <a:defRPr/>
              </a:pPr>
              <a:t>04-Mar-19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28688" y="674688"/>
            <a:ext cx="5245100" cy="3371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613" y="4270375"/>
            <a:ext cx="5683250" cy="40465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540750"/>
            <a:ext cx="3078163" cy="4492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2725" y="8540750"/>
            <a:ext cx="3078163" cy="449263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AFD1CDCE-6365-4C2F-9690-64E3A1C73E6C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22270469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 smtClean="0"/>
          </a:p>
        </p:txBody>
      </p:sp>
      <p:sp>
        <p:nvSpPr>
          <p:cNvPr id="512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B10774E-3D3C-4978-8183-60C3A2BC7A77}" type="slidenum">
              <a:rPr lang="en-US" altLang="en-US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</a:t>
            </a:fld>
            <a:endParaRPr lang="en-US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02978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40163" y="10226675"/>
            <a:ext cx="43526075" cy="70548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80325" y="18653125"/>
            <a:ext cx="35845750" cy="84137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5892D4-FCC4-4E22-B12E-95075174809C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607206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0BBF96-64B7-4E40-986D-89AEA849C653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63869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44950" y="21153438"/>
            <a:ext cx="43526075" cy="653732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44950" y="13952538"/>
            <a:ext cx="43526075" cy="72009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2A5244-2E60-4ABF-AF2F-869E583CD2E3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680088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40163" y="9509125"/>
            <a:ext cx="21686837" cy="197516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79400" y="9509125"/>
            <a:ext cx="21686838" cy="197516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8D41AF-FF21-4E5E-953B-AAE9D0524671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83896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638" y="1317625"/>
            <a:ext cx="46085125" cy="54864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60638" y="7369175"/>
            <a:ext cx="22625050" cy="30702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638" y="10439400"/>
            <a:ext cx="22625050" cy="189658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6012775" y="7369175"/>
            <a:ext cx="22632988" cy="30702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6012775" y="10439400"/>
            <a:ext cx="22632988" cy="189658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01D03A-C1E5-4C2B-8FC7-B9B1798B1B5E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299903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09A5C6-6D56-4766-A49A-4446423D6A9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3582491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E1F25C-19E2-4127-BD7D-B23885553FE1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416377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638" y="1311275"/>
            <a:ext cx="16846550" cy="557688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019963" y="1311275"/>
            <a:ext cx="28625800" cy="2809398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638" y="6888163"/>
            <a:ext cx="16846550" cy="225171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F77716-19D7-45EA-BEA7-EB675FAEEE72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99547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36175" y="23042563"/>
            <a:ext cx="30724475" cy="27209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36175" y="2941638"/>
            <a:ext cx="30724475" cy="1975008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36175" y="25763538"/>
            <a:ext cx="30724475" cy="38623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0A9EAC-67F0-4220-9020-F746E4C0E3A9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17050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6B0188-D94B-4041-8584-C69DFE228F1D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85288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6485513" y="2925763"/>
            <a:ext cx="10880725" cy="2633503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40163" y="2925763"/>
            <a:ext cx="32492950" cy="2633503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3D030E-EB1A-4904-AE60-5BDC6B6F8629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91694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40163" y="2925763"/>
            <a:ext cx="43526075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80709" tIns="240355" rIns="480709" bIns="24035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40163" y="9509125"/>
            <a:ext cx="43526075" cy="1975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80709" tIns="240355" rIns="480709" bIns="24035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840163" y="29992638"/>
            <a:ext cx="10668000" cy="219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480709" tIns="240355" rIns="480709" bIns="240355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74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7495838" y="29992638"/>
            <a:ext cx="16214725" cy="219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480709" tIns="240355" rIns="480709" bIns="240355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74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6698238" y="29992638"/>
            <a:ext cx="10668000" cy="219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480709" tIns="240355" rIns="480709" bIns="240355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7400"/>
            </a:lvl1pPr>
          </a:lstStyle>
          <a:p>
            <a:pPr>
              <a:defRPr/>
            </a:pPr>
            <a:fld id="{95DA34D0-32F3-47BA-AE8D-30CBACAB122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806950" rtl="0" eaLnBrk="0" fontAlgn="base" hangingPunct="0">
        <a:spcBef>
          <a:spcPct val="0"/>
        </a:spcBef>
        <a:spcAft>
          <a:spcPct val="0"/>
        </a:spcAft>
        <a:defRPr sz="23100">
          <a:solidFill>
            <a:schemeClr val="tx2"/>
          </a:solidFill>
          <a:latin typeface="+mj-lt"/>
          <a:ea typeface="+mj-ea"/>
          <a:cs typeface="+mj-cs"/>
        </a:defRPr>
      </a:lvl1pPr>
      <a:lvl2pPr algn="ctr" defTabSz="4806950" rtl="0" eaLnBrk="0" fontAlgn="base" hangingPunct="0">
        <a:spcBef>
          <a:spcPct val="0"/>
        </a:spcBef>
        <a:spcAft>
          <a:spcPct val="0"/>
        </a:spcAft>
        <a:defRPr sz="23100">
          <a:solidFill>
            <a:schemeClr val="tx2"/>
          </a:solidFill>
          <a:latin typeface="Times New Roman" charset="0"/>
        </a:defRPr>
      </a:lvl2pPr>
      <a:lvl3pPr algn="ctr" defTabSz="4806950" rtl="0" eaLnBrk="0" fontAlgn="base" hangingPunct="0">
        <a:spcBef>
          <a:spcPct val="0"/>
        </a:spcBef>
        <a:spcAft>
          <a:spcPct val="0"/>
        </a:spcAft>
        <a:defRPr sz="23100">
          <a:solidFill>
            <a:schemeClr val="tx2"/>
          </a:solidFill>
          <a:latin typeface="Times New Roman" charset="0"/>
        </a:defRPr>
      </a:lvl3pPr>
      <a:lvl4pPr algn="ctr" defTabSz="4806950" rtl="0" eaLnBrk="0" fontAlgn="base" hangingPunct="0">
        <a:spcBef>
          <a:spcPct val="0"/>
        </a:spcBef>
        <a:spcAft>
          <a:spcPct val="0"/>
        </a:spcAft>
        <a:defRPr sz="23100">
          <a:solidFill>
            <a:schemeClr val="tx2"/>
          </a:solidFill>
          <a:latin typeface="Times New Roman" charset="0"/>
        </a:defRPr>
      </a:lvl4pPr>
      <a:lvl5pPr algn="ctr" defTabSz="4806950" rtl="0" eaLnBrk="0" fontAlgn="base" hangingPunct="0">
        <a:spcBef>
          <a:spcPct val="0"/>
        </a:spcBef>
        <a:spcAft>
          <a:spcPct val="0"/>
        </a:spcAft>
        <a:defRPr sz="23100">
          <a:solidFill>
            <a:schemeClr val="tx2"/>
          </a:solidFill>
          <a:latin typeface="Times New Roman" charset="0"/>
        </a:defRPr>
      </a:lvl5pPr>
      <a:lvl6pPr marL="457200" algn="ctr" defTabSz="4806950" rtl="0" fontAlgn="base">
        <a:spcBef>
          <a:spcPct val="0"/>
        </a:spcBef>
        <a:spcAft>
          <a:spcPct val="0"/>
        </a:spcAft>
        <a:defRPr sz="23100">
          <a:solidFill>
            <a:schemeClr val="tx2"/>
          </a:solidFill>
          <a:latin typeface="Times New Roman" charset="0"/>
        </a:defRPr>
      </a:lvl6pPr>
      <a:lvl7pPr marL="914400" algn="ctr" defTabSz="4806950" rtl="0" fontAlgn="base">
        <a:spcBef>
          <a:spcPct val="0"/>
        </a:spcBef>
        <a:spcAft>
          <a:spcPct val="0"/>
        </a:spcAft>
        <a:defRPr sz="23100">
          <a:solidFill>
            <a:schemeClr val="tx2"/>
          </a:solidFill>
          <a:latin typeface="Times New Roman" charset="0"/>
        </a:defRPr>
      </a:lvl7pPr>
      <a:lvl8pPr marL="1371600" algn="ctr" defTabSz="4806950" rtl="0" fontAlgn="base">
        <a:spcBef>
          <a:spcPct val="0"/>
        </a:spcBef>
        <a:spcAft>
          <a:spcPct val="0"/>
        </a:spcAft>
        <a:defRPr sz="23100">
          <a:solidFill>
            <a:schemeClr val="tx2"/>
          </a:solidFill>
          <a:latin typeface="Times New Roman" charset="0"/>
        </a:defRPr>
      </a:lvl8pPr>
      <a:lvl9pPr marL="1828800" algn="ctr" defTabSz="4806950" rtl="0" fontAlgn="base">
        <a:spcBef>
          <a:spcPct val="0"/>
        </a:spcBef>
        <a:spcAft>
          <a:spcPct val="0"/>
        </a:spcAft>
        <a:defRPr sz="23100">
          <a:solidFill>
            <a:schemeClr val="tx2"/>
          </a:solidFill>
          <a:latin typeface="Times New Roman" charset="0"/>
        </a:defRPr>
      </a:lvl9pPr>
    </p:titleStyle>
    <p:bodyStyle>
      <a:lvl1pPr marL="1803400" indent="-1803400" algn="l" defTabSz="4806950" rtl="0" eaLnBrk="0" fontAlgn="base" hangingPunct="0">
        <a:spcBef>
          <a:spcPct val="20000"/>
        </a:spcBef>
        <a:spcAft>
          <a:spcPct val="0"/>
        </a:spcAft>
        <a:buChar char="•"/>
        <a:defRPr sz="16800">
          <a:solidFill>
            <a:schemeClr val="tx1"/>
          </a:solidFill>
          <a:latin typeface="+mn-lt"/>
          <a:ea typeface="+mn-ea"/>
          <a:cs typeface="+mn-cs"/>
        </a:defRPr>
      </a:lvl1pPr>
      <a:lvl2pPr marL="3905250" indent="-1501775" algn="l" defTabSz="4806950" rtl="0" eaLnBrk="0" fontAlgn="base" hangingPunct="0">
        <a:spcBef>
          <a:spcPct val="20000"/>
        </a:spcBef>
        <a:spcAft>
          <a:spcPct val="0"/>
        </a:spcAft>
        <a:buChar char="–"/>
        <a:defRPr sz="14700">
          <a:solidFill>
            <a:schemeClr val="tx1"/>
          </a:solidFill>
          <a:latin typeface="+mn-lt"/>
        </a:defRPr>
      </a:lvl2pPr>
      <a:lvl3pPr marL="6008688" indent="-1201738" algn="l" defTabSz="4806950" rtl="0" eaLnBrk="0" fontAlgn="base" hangingPunct="0">
        <a:spcBef>
          <a:spcPct val="20000"/>
        </a:spcBef>
        <a:spcAft>
          <a:spcPct val="0"/>
        </a:spcAft>
        <a:buChar char="•"/>
        <a:defRPr sz="12600">
          <a:solidFill>
            <a:schemeClr val="tx1"/>
          </a:solidFill>
          <a:latin typeface="+mn-lt"/>
        </a:defRPr>
      </a:lvl3pPr>
      <a:lvl4pPr marL="8412163" indent="-1201738" algn="l" defTabSz="4806950" rtl="0" eaLnBrk="0" fontAlgn="base" hangingPunct="0">
        <a:spcBef>
          <a:spcPct val="20000"/>
        </a:spcBef>
        <a:spcAft>
          <a:spcPct val="0"/>
        </a:spcAft>
        <a:buChar char="–"/>
        <a:defRPr sz="10500">
          <a:solidFill>
            <a:schemeClr val="tx1"/>
          </a:solidFill>
          <a:latin typeface="+mn-lt"/>
        </a:defRPr>
      </a:lvl4pPr>
      <a:lvl5pPr marL="10815638" indent="-1201738" algn="l" defTabSz="4806950" rtl="0" eaLnBrk="0" fontAlgn="base" hangingPunct="0">
        <a:spcBef>
          <a:spcPct val="20000"/>
        </a:spcBef>
        <a:spcAft>
          <a:spcPct val="0"/>
        </a:spcAft>
        <a:buChar char="»"/>
        <a:defRPr sz="10500">
          <a:solidFill>
            <a:schemeClr val="tx1"/>
          </a:solidFill>
          <a:latin typeface="+mn-lt"/>
        </a:defRPr>
      </a:lvl5pPr>
      <a:lvl6pPr marL="11272838" indent="-1201738" algn="l" defTabSz="4806950" rtl="0" fontAlgn="base">
        <a:spcBef>
          <a:spcPct val="20000"/>
        </a:spcBef>
        <a:spcAft>
          <a:spcPct val="0"/>
        </a:spcAft>
        <a:buChar char="»"/>
        <a:defRPr sz="10500">
          <a:solidFill>
            <a:schemeClr val="tx1"/>
          </a:solidFill>
          <a:latin typeface="+mn-lt"/>
        </a:defRPr>
      </a:lvl6pPr>
      <a:lvl7pPr marL="11730038" indent="-1201738" algn="l" defTabSz="4806950" rtl="0" fontAlgn="base">
        <a:spcBef>
          <a:spcPct val="20000"/>
        </a:spcBef>
        <a:spcAft>
          <a:spcPct val="0"/>
        </a:spcAft>
        <a:buChar char="»"/>
        <a:defRPr sz="10500">
          <a:solidFill>
            <a:schemeClr val="tx1"/>
          </a:solidFill>
          <a:latin typeface="+mn-lt"/>
        </a:defRPr>
      </a:lvl7pPr>
      <a:lvl8pPr marL="12187238" indent="-1201738" algn="l" defTabSz="4806950" rtl="0" fontAlgn="base">
        <a:spcBef>
          <a:spcPct val="20000"/>
        </a:spcBef>
        <a:spcAft>
          <a:spcPct val="0"/>
        </a:spcAft>
        <a:buChar char="»"/>
        <a:defRPr sz="10500">
          <a:solidFill>
            <a:schemeClr val="tx1"/>
          </a:solidFill>
          <a:latin typeface="+mn-lt"/>
        </a:defRPr>
      </a:lvl8pPr>
      <a:lvl9pPr marL="12644438" indent="-1201738" algn="l" defTabSz="4806950" rtl="0" fontAlgn="base">
        <a:spcBef>
          <a:spcPct val="20000"/>
        </a:spcBef>
        <a:spcAft>
          <a:spcPct val="0"/>
        </a:spcAft>
        <a:buChar char="»"/>
        <a:defRPr sz="105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/>
            </a:gs>
            <a:gs pos="100000">
              <a:srgbClr val="60C99C"/>
            </a:gs>
            <a:gs pos="100000">
              <a:srgbClr val="00B0F0"/>
            </a:gs>
          </a:gsLst>
          <a:path path="rect">
            <a:fillToRect t="100000" r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2" descr="http://www.northsouth.edu/assets/responsive/img/nsu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0" y="1390650"/>
            <a:ext cx="4568825" cy="501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Rounded Rectangle 24"/>
          <p:cNvSpPr/>
          <p:nvPr/>
        </p:nvSpPr>
        <p:spPr>
          <a:xfrm>
            <a:off x="300387" y="18714720"/>
            <a:ext cx="17180278" cy="1325880"/>
          </a:xfrm>
          <a:prstGeom prst="roundRect">
            <a:avLst/>
          </a:prstGeom>
          <a:solidFill>
            <a:srgbClr val="00B050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Dataset</a:t>
            </a:r>
            <a:endParaRPr 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102" name="TextBox 35"/>
          <p:cNvSpPr txBox="1">
            <a:spLocks noChangeArrowheads="1"/>
          </p:cNvSpPr>
          <p:nvPr/>
        </p:nvSpPr>
        <p:spPr bwMode="auto">
          <a:xfrm>
            <a:off x="0" y="2057400"/>
            <a:ext cx="51206400" cy="563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7200" b="1" dirty="0">
                <a:solidFill>
                  <a:srgbClr val="FFC000"/>
                </a:solidFill>
              </a:rPr>
              <a:t>Mohammad </a:t>
            </a:r>
            <a:r>
              <a:rPr lang="en-US" altLang="en-US" sz="7200" b="1" dirty="0" err="1">
                <a:solidFill>
                  <a:srgbClr val="FFC000"/>
                </a:solidFill>
              </a:rPr>
              <a:t>Shafiqul</a:t>
            </a:r>
            <a:r>
              <a:rPr lang="en-US" altLang="en-US" sz="7200" b="1" dirty="0">
                <a:solidFill>
                  <a:srgbClr val="FFC000"/>
                </a:solidFill>
              </a:rPr>
              <a:t> Islam and Mohammad </a:t>
            </a:r>
            <a:r>
              <a:rPr lang="en-US" altLang="en-US" sz="7200" b="1" dirty="0" err="1">
                <a:solidFill>
                  <a:srgbClr val="FFC000"/>
                </a:solidFill>
              </a:rPr>
              <a:t>Rafsun</a:t>
            </a:r>
            <a:r>
              <a:rPr lang="en-US" altLang="en-US" sz="7200" b="1" dirty="0">
                <a:solidFill>
                  <a:srgbClr val="FFC000"/>
                </a:solidFill>
              </a:rPr>
              <a:t> </a:t>
            </a:r>
            <a:r>
              <a:rPr lang="en-US" altLang="en-US" sz="7200" b="1" dirty="0" err="1">
                <a:solidFill>
                  <a:srgbClr val="FFC000"/>
                </a:solidFill>
              </a:rPr>
              <a:t>Jany</a:t>
            </a:r>
            <a:endParaRPr lang="en-US" altLang="en-US" sz="7200" b="1" dirty="0">
              <a:solidFill>
                <a:srgbClr val="FFC000"/>
              </a:solidFill>
            </a:endParaRPr>
          </a:p>
          <a:p>
            <a:pPr algn="ctr"/>
            <a:r>
              <a:rPr lang="en-US" altLang="en-US" sz="7200" b="1" dirty="0">
                <a:solidFill>
                  <a:srgbClr val="FFC000"/>
                </a:solidFill>
              </a:rPr>
              <a:t>Dr. Ahsanur Rahman (Supervisor)</a:t>
            </a:r>
          </a:p>
          <a:p>
            <a:pPr algn="ctr"/>
            <a:r>
              <a:rPr lang="en-US" altLang="en-US" sz="7200" b="1" dirty="0">
                <a:solidFill>
                  <a:srgbClr val="FFC000"/>
                </a:solidFill>
              </a:rPr>
              <a:t>Department of Electrical and Computer Engineering</a:t>
            </a:r>
          </a:p>
          <a:p>
            <a:pPr algn="ctr"/>
            <a:r>
              <a:rPr lang="en-US" altLang="en-US" sz="7200" b="1" dirty="0">
                <a:solidFill>
                  <a:srgbClr val="FFC000"/>
                </a:solidFill>
              </a:rPr>
              <a:t>North South University</a:t>
            </a:r>
          </a:p>
          <a:p>
            <a:pPr algn="ctr"/>
            <a:endParaRPr lang="en-US" altLang="en-US" sz="7200" b="1" dirty="0">
              <a:solidFill>
                <a:srgbClr val="FFC000"/>
              </a:solidFill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0" y="6553200"/>
            <a:ext cx="51206400" cy="860425"/>
          </a:xfrm>
          <a:prstGeom prst="rect">
            <a:avLst/>
          </a:prstGeom>
          <a:solidFill>
            <a:srgbClr val="FFFF00"/>
          </a:solidFill>
          <a:ln>
            <a:solidFill>
              <a:srgbClr val="FF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6000" b="1" dirty="0">
                <a:solidFill>
                  <a:srgbClr val="00B0F0"/>
                </a:solidFill>
              </a:rPr>
              <a:t>mdshafiqul.islam@northsouth.edu, jany.mahin@northsouth.edu, ahsanur.rahman@northsouth.edu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57150" y="0"/>
            <a:ext cx="50120550" cy="20923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3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Mining Periodic </a:t>
            </a:r>
            <a:r>
              <a:rPr lang="en-US" sz="13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Subgraphs </a:t>
            </a:r>
            <a:r>
              <a:rPr lang="en-US" sz="13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in Drosophila Developmental Networks </a:t>
            </a:r>
            <a:endParaRPr lang="en-US" sz="130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00387" y="20242123"/>
            <a:ext cx="17201060" cy="341632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857250" indent="-857250">
              <a:buFont typeface="Wingdings" panose="05000000000000000000" pitchFamily="2" charset="2"/>
              <a:buChar char="Ø"/>
              <a:defRPr/>
            </a:pPr>
            <a:r>
              <a:rPr lang="en-US" sz="5400" dirty="0" smtClean="0"/>
              <a:t>66 temporal networks [2] inferred from the expressions of 588 genes</a:t>
            </a:r>
            <a:r>
              <a:rPr lang="en-US" sz="5400" dirty="0"/>
              <a:t> </a:t>
            </a:r>
            <a:r>
              <a:rPr lang="en-US" sz="5400" dirty="0" smtClean="0"/>
              <a:t>involved in the development of Drosophila.</a:t>
            </a:r>
            <a:endParaRPr lang="en-US" sz="5400" dirty="0"/>
          </a:p>
          <a:p>
            <a:pPr marL="857250" indent="-857250">
              <a:buFont typeface="Wingdings" panose="05000000000000000000" pitchFamily="2" charset="2"/>
              <a:buChar char="Ø"/>
              <a:defRPr/>
            </a:pPr>
            <a:r>
              <a:rPr lang="en-US" sz="5400" dirty="0" smtClean="0"/>
              <a:t>An edge between two genes in a network indicates that these genes are probably co-regulated at that time.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617398" y="20242123"/>
            <a:ext cx="13403054" cy="341632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857250" indent="-857250">
              <a:buFont typeface="Wingdings" panose="05000000000000000000" pitchFamily="2" charset="2"/>
              <a:buChar char="Ø"/>
              <a:defRPr/>
            </a:pPr>
            <a:r>
              <a:rPr lang="en-US" sz="5400" dirty="0"/>
              <a:t>Mining </a:t>
            </a:r>
            <a:r>
              <a:rPr lang="en-US" sz="5400" dirty="0" smtClean="0"/>
              <a:t>PSEs </a:t>
            </a:r>
            <a:r>
              <a:rPr lang="en-US" sz="5400" dirty="0"/>
              <a:t>in </a:t>
            </a:r>
            <a:r>
              <a:rPr lang="en-US" sz="5400" dirty="0" smtClean="0"/>
              <a:t>non-developmental networks and interpret those results.</a:t>
            </a:r>
          </a:p>
          <a:p>
            <a:pPr marL="857250" indent="-857250">
              <a:buFont typeface="Wingdings" panose="05000000000000000000" pitchFamily="2" charset="2"/>
              <a:buChar char="Ø"/>
              <a:defRPr/>
            </a:pPr>
            <a:r>
              <a:rPr lang="en-US" sz="5400" dirty="0" smtClean="0"/>
              <a:t>Redefine PSE in such a that fewer parameters are needed from the user.</a:t>
            </a:r>
            <a:endParaRPr lang="en-US" dirty="0"/>
          </a:p>
        </p:txBody>
      </p:sp>
      <p:sp>
        <p:nvSpPr>
          <p:cNvPr id="20" name="Rounded Rectangle 19"/>
          <p:cNvSpPr/>
          <p:nvPr/>
        </p:nvSpPr>
        <p:spPr>
          <a:xfrm>
            <a:off x="32918399" y="7620000"/>
            <a:ext cx="18132425" cy="1325880"/>
          </a:xfrm>
          <a:prstGeom prst="roundRect">
            <a:avLst/>
          </a:prstGeom>
          <a:solidFill>
            <a:srgbClr val="00B050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Largest Component of a PSE (p = 2, s = 8</a:t>
            </a:r>
            <a:r>
              <a:rPr lang="en-US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7807309" y="18714720"/>
            <a:ext cx="19469983" cy="1325880"/>
          </a:xfrm>
          <a:prstGeom prst="roundRect">
            <a:avLst/>
          </a:prstGeom>
          <a:solidFill>
            <a:srgbClr val="00B050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Results of Functional Enrichment Analysis</a:t>
            </a:r>
            <a:endParaRPr 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150211" y="7620000"/>
            <a:ext cx="18888903" cy="1329604"/>
          </a:xfrm>
          <a:prstGeom prst="roundRect">
            <a:avLst/>
          </a:prstGeom>
          <a:solidFill>
            <a:srgbClr val="00B050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Periodic Subgraph Embedding (PSE) Illustration</a:t>
            </a:r>
            <a:endParaRPr 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2" name="TextBox 151"/>
          <p:cNvSpPr txBox="1"/>
          <p:nvPr/>
        </p:nvSpPr>
        <p:spPr>
          <a:xfrm>
            <a:off x="37572091" y="25222200"/>
            <a:ext cx="13448361" cy="747897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857250" indent="-857250">
              <a:buFont typeface="+mj-lt"/>
              <a:buAutoNum type="arabicPeriod"/>
              <a:defRPr/>
            </a:pPr>
            <a:r>
              <a:rPr lang="en-US" sz="4000" i="1" dirty="0"/>
              <a:t>A. Apostolico, M. Barbares, C. Pizzi, Speedup for a periodic subgraph miner, </a:t>
            </a:r>
            <a:r>
              <a:rPr lang="en-US" sz="4000" dirty="0"/>
              <a:t>Information Processing Letters</a:t>
            </a:r>
            <a:r>
              <a:rPr lang="en-US" sz="4000" i="1" dirty="0"/>
              <a:t>, </a:t>
            </a:r>
            <a:r>
              <a:rPr lang="en-US" sz="4000" i="1" dirty="0" smtClean="0"/>
              <a:t>Volume </a:t>
            </a:r>
            <a:r>
              <a:rPr lang="en-US" sz="4000" i="1" dirty="0"/>
              <a:t>111, Issue 11, 2011, </a:t>
            </a:r>
            <a:r>
              <a:rPr lang="en-US" sz="4000" i="1" dirty="0" smtClean="0"/>
              <a:t>pp. </a:t>
            </a:r>
            <a:r>
              <a:rPr lang="en-US" sz="4000" i="1" dirty="0"/>
              <a:t>521-523.</a:t>
            </a:r>
          </a:p>
          <a:p>
            <a:pPr marL="857250" indent="-857250">
              <a:buFont typeface="+mj-lt"/>
              <a:buAutoNum type="arabicPeriod"/>
              <a:defRPr/>
            </a:pPr>
            <a:r>
              <a:rPr lang="en-US" sz="4000" i="1" dirty="0"/>
              <a:t>L. Song, M. Kolar, E. P. Xing; KELLER: estimating time-varying interactions between genes, </a:t>
            </a:r>
            <a:r>
              <a:rPr lang="en-US" sz="4000" dirty="0"/>
              <a:t>Bioinformatics</a:t>
            </a:r>
            <a:r>
              <a:rPr lang="en-US" sz="4000" i="1" dirty="0"/>
              <a:t>, Volume 25, Issue 12, 2009, </a:t>
            </a:r>
            <a:r>
              <a:rPr lang="en-US" sz="4000" i="1" dirty="0" smtClean="0"/>
              <a:t>pp. </a:t>
            </a:r>
            <a:r>
              <a:rPr lang="en-US" sz="4000" i="1" dirty="0"/>
              <a:t>i128–i136.</a:t>
            </a:r>
          </a:p>
          <a:p>
            <a:pPr marL="857250" indent="-857250">
              <a:buFont typeface="+mj-lt"/>
              <a:buAutoNum type="arabicPeriod"/>
              <a:defRPr/>
            </a:pPr>
            <a:r>
              <a:rPr lang="en-US" sz="4000" i="1" dirty="0"/>
              <a:t>S. Bauer, P. N. Robinson, J. </a:t>
            </a:r>
            <a:r>
              <a:rPr lang="en-US" sz="4000" i="1" dirty="0" err="1" smtClean="0"/>
              <a:t>Gagneur</a:t>
            </a:r>
            <a:r>
              <a:rPr lang="en-US" sz="4000" i="1" dirty="0" smtClean="0"/>
              <a:t>, Model-based </a:t>
            </a:r>
            <a:r>
              <a:rPr lang="en-US" sz="4000" i="1" dirty="0"/>
              <a:t>gene set analysis for </a:t>
            </a:r>
            <a:r>
              <a:rPr lang="en-US" sz="4000" i="1" dirty="0" smtClean="0"/>
              <a:t>Bioconductor, </a:t>
            </a:r>
            <a:r>
              <a:rPr lang="en-US" sz="4000" dirty="0"/>
              <a:t>Bioinformatics</a:t>
            </a:r>
            <a:r>
              <a:rPr lang="en-US" sz="4000" i="1" dirty="0"/>
              <a:t>, volume 27, Issue 13, 2011, </a:t>
            </a:r>
            <a:r>
              <a:rPr lang="en-US" sz="4000" i="1" dirty="0" smtClean="0"/>
              <a:t>pp. </a:t>
            </a:r>
            <a:r>
              <a:rPr lang="en-US" sz="4000" i="1" dirty="0"/>
              <a:t>1882-1883.</a:t>
            </a:r>
          </a:p>
          <a:p>
            <a:pPr marL="857250" indent="-857250">
              <a:buFont typeface="+mj-lt"/>
              <a:buAutoNum type="arabicPeriod"/>
              <a:defRPr/>
            </a:pPr>
            <a:r>
              <a:rPr lang="en-US" sz="4000" i="1" dirty="0"/>
              <a:t>G. F. Berriz, J. E. Beaver, C. Cenik, M. Tasan, F. P. Roth, </a:t>
            </a:r>
            <a:r>
              <a:rPr lang="en-US" sz="4000" i="1" dirty="0" smtClean="0"/>
              <a:t>Next </a:t>
            </a:r>
            <a:r>
              <a:rPr lang="en-US" sz="4000" i="1" dirty="0"/>
              <a:t>generation software for functional trend </a:t>
            </a:r>
            <a:r>
              <a:rPr lang="en-US" sz="4000" i="1" dirty="0" smtClean="0"/>
              <a:t>analysis, </a:t>
            </a:r>
            <a:r>
              <a:rPr lang="en-US" sz="4000" dirty="0"/>
              <a:t>Bioinformatics</a:t>
            </a:r>
            <a:r>
              <a:rPr lang="en-US" sz="4000" i="1" dirty="0"/>
              <a:t>, </a:t>
            </a:r>
            <a:r>
              <a:rPr lang="en-US" sz="4000" i="1" dirty="0" smtClean="0"/>
              <a:t>Volume </a:t>
            </a:r>
            <a:r>
              <a:rPr lang="en-US" sz="4000" i="1" dirty="0"/>
              <a:t>25, Issue 22, 2009, </a:t>
            </a:r>
            <a:r>
              <a:rPr lang="en-US" sz="4000" i="1" dirty="0" smtClean="0"/>
              <a:t>pp. </a:t>
            </a:r>
            <a:r>
              <a:rPr lang="en-US" sz="4000" i="1" dirty="0"/>
              <a:t>3043-3044.</a:t>
            </a:r>
            <a:endParaRPr lang="en-US" sz="4000" dirty="0"/>
          </a:p>
        </p:txBody>
      </p:sp>
      <p:sp>
        <p:nvSpPr>
          <p:cNvPr id="156" name="Rounded Rectangle 155"/>
          <p:cNvSpPr/>
          <p:nvPr/>
        </p:nvSpPr>
        <p:spPr>
          <a:xfrm>
            <a:off x="37572091" y="23814157"/>
            <a:ext cx="13448361" cy="1280160"/>
          </a:xfrm>
          <a:prstGeom prst="roundRect">
            <a:avLst/>
          </a:prstGeom>
          <a:solidFill>
            <a:srgbClr val="00B050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References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37572091" y="18714720"/>
            <a:ext cx="13448361" cy="1325880"/>
          </a:xfrm>
          <a:prstGeom prst="roundRect">
            <a:avLst/>
          </a:prstGeom>
          <a:solidFill>
            <a:srgbClr val="00B050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Future Work</a:t>
            </a:r>
          </a:p>
        </p:txBody>
      </p:sp>
      <p:pic>
        <p:nvPicPr>
          <p:cNvPr id="4150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18400" y="9182353"/>
            <a:ext cx="18094324" cy="92484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51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1" t="2277" r="33530" b="25993"/>
          <a:stretch>
            <a:fillRect/>
          </a:stretch>
        </p:blipFill>
        <p:spPr bwMode="auto">
          <a:xfrm>
            <a:off x="19290721" y="9143832"/>
            <a:ext cx="13414375" cy="7548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26212801" y="14420358"/>
            <a:ext cx="6291472" cy="2123658"/>
          </a:xfrm>
          <a:prstGeom prst="rect">
            <a:avLst/>
          </a:prstGeom>
          <a:noFill/>
          <a:ln>
            <a:solidFill>
              <a:srgbClr val="00B0F0"/>
            </a:solidFill>
          </a:ln>
          <a:effectLst>
            <a:glow rad="127000">
              <a:schemeClr val="accent1">
                <a:alpha val="0"/>
              </a:schemeClr>
            </a:glow>
          </a:effectLst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4400" dirty="0"/>
              <a:t>p</a:t>
            </a:r>
            <a:r>
              <a:rPr lang="en-US" sz="4400" dirty="0" smtClean="0"/>
              <a:t>: Period</a:t>
            </a:r>
            <a:endParaRPr lang="en-US" sz="4400" dirty="0"/>
          </a:p>
          <a:p>
            <a:pPr>
              <a:defRPr/>
            </a:pPr>
            <a:r>
              <a:rPr lang="en-US" sz="4400" dirty="0"/>
              <a:t>s</a:t>
            </a:r>
            <a:r>
              <a:rPr lang="en-US" sz="4400" dirty="0" smtClean="0"/>
              <a:t>: Support</a:t>
            </a:r>
            <a:endParaRPr lang="en-US" sz="4400" dirty="0"/>
          </a:p>
          <a:p>
            <a:pPr>
              <a:defRPr/>
            </a:pPr>
            <a:r>
              <a:rPr lang="en-US" sz="4400" dirty="0" smtClean="0"/>
              <a:t>Cell: No. </a:t>
            </a:r>
            <a:r>
              <a:rPr lang="en-US" sz="4400" dirty="0"/>
              <a:t>of </a:t>
            </a:r>
            <a:r>
              <a:rPr lang="en-US" sz="4400" dirty="0" smtClean="0"/>
              <a:t>Genes in PSE</a:t>
            </a:r>
            <a:endParaRPr lang="en-US" sz="4400" dirty="0"/>
          </a:p>
        </p:txBody>
      </p:sp>
      <p:sp>
        <p:nvSpPr>
          <p:cNvPr id="168" name="Rounded Rectangle 167"/>
          <p:cNvSpPr/>
          <p:nvPr/>
        </p:nvSpPr>
        <p:spPr>
          <a:xfrm>
            <a:off x="19293968" y="7620000"/>
            <a:ext cx="13369576" cy="1325880"/>
          </a:xfrm>
          <a:prstGeom prst="roundRect">
            <a:avLst/>
          </a:prstGeom>
          <a:solidFill>
            <a:srgbClr val="00B050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Choice of Parameters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9284095" y="16692656"/>
            <a:ext cx="13414375" cy="175432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defRPr/>
            </a:pPr>
            <a:r>
              <a:rPr lang="en-US" sz="5400" dirty="0"/>
              <a:t>Parameters are chosen in such a way that </a:t>
            </a:r>
            <a:r>
              <a:rPr lang="en-US" sz="5400" dirty="0" smtClean="0"/>
              <a:t>period</a:t>
            </a:r>
            <a:r>
              <a:rPr lang="en-US" sz="5400" dirty="0"/>
              <a:t>, </a:t>
            </a:r>
            <a:r>
              <a:rPr lang="en-US" sz="5400" dirty="0" smtClean="0"/>
              <a:t>support, no</a:t>
            </a:r>
            <a:r>
              <a:rPr lang="en-US" sz="5400" dirty="0"/>
              <a:t>. of genes </a:t>
            </a:r>
            <a:r>
              <a:rPr lang="en-US" sz="5400" dirty="0" smtClean="0"/>
              <a:t>– none is too </a:t>
            </a:r>
            <a:r>
              <a:rPr lang="en-US" sz="5400" dirty="0"/>
              <a:t>low.</a:t>
            </a:r>
            <a:endParaRPr lang="en-US" dirty="0"/>
          </a:p>
        </p:txBody>
      </p:sp>
      <p:sp>
        <p:nvSpPr>
          <p:cNvPr id="77" name="TextBox 76"/>
          <p:cNvSpPr txBox="1"/>
          <p:nvPr/>
        </p:nvSpPr>
        <p:spPr>
          <a:xfrm>
            <a:off x="17781556" y="20242123"/>
            <a:ext cx="19469983" cy="923330"/>
          </a:xfrm>
          <a:prstGeom prst="rect">
            <a:avLst/>
          </a:prstGeom>
          <a:blipFill>
            <a:blip r:embed="rId6"/>
            <a:tile tx="0" ty="0" sx="100000" sy="100000" flip="none" algn="tl"/>
          </a:blip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sz="5400" b="1" dirty="0"/>
              <a:t>MGSA [3] enrichment of the largest </a:t>
            </a:r>
            <a:r>
              <a:rPr lang="en-US" sz="5400" b="1" dirty="0" smtClean="0"/>
              <a:t>component </a:t>
            </a:r>
            <a:r>
              <a:rPr lang="en-US" sz="5400" b="1" dirty="0"/>
              <a:t>in </a:t>
            </a:r>
            <a:r>
              <a:rPr lang="en-US" sz="5400" b="1" dirty="0" smtClean="0"/>
              <a:t>each PSE</a:t>
            </a:r>
            <a:endParaRPr lang="en-US" sz="5400" b="1" dirty="0"/>
          </a:p>
        </p:txBody>
      </p:sp>
      <p:sp>
        <p:nvSpPr>
          <p:cNvPr id="78" name="TextBox 77"/>
          <p:cNvSpPr txBox="1"/>
          <p:nvPr/>
        </p:nvSpPr>
        <p:spPr>
          <a:xfrm>
            <a:off x="17781556" y="25220474"/>
            <a:ext cx="19521488" cy="1754326"/>
          </a:xfrm>
          <a:prstGeom prst="rect">
            <a:avLst/>
          </a:prstGeom>
          <a:blipFill>
            <a:blip r:embed="rId6"/>
            <a:tile tx="0" ty="0" sx="100000" sy="100000" flip="none" algn="tl"/>
          </a:blip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sz="5400" b="1" dirty="0"/>
              <a:t>FuncAssociate [4] enrichment of sorted (by degrees) list of nodes in </a:t>
            </a:r>
            <a:r>
              <a:rPr lang="en-US" sz="5400" b="1" dirty="0" smtClean="0"/>
              <a:t>the largest component </a:t>
            </a:r>
            <a:r>
              <a:rPr lang="en-US" sz="5400" b="1" dirty="0"/>
              <a:t>in each </a:t>
            </a:r>
            <a:r>
              <a:rPr lang="en-US" sz="5400" b="1" dirty="0" smtClean="0"/>
              <a:t>PSE</a:t>
            </a:r>
            <a:endParaRPr lang="en-US" sz="5400" b="1" dirty="0"/>
          </a:p>
        </p:txBody>
      </p:sp>
      <p:pic>
        <p:nvPicPr>
          <p:cNvPr id="4158" name="Picture 3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4" t="4544" r="2039" b="8784"/>
          <a:stretch>
            <a:fillRect/>
          </a:stretch>
        </p:blipFill>
        <p:spPr bwMode="auto">
          <a:xfrm>
            <a:off x="17781557" y="21250685"/>
            <a:ext cx="19516720" cy="383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59" name="Picture 3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3" t="5785" r="1526" b="6313"/>
          <a:stretch>
            <a:fillRect/>
          </a:stretch>
        </p:blipFill>
        <p:spPr bwMode="auto">
          <a:xfrm>
            <a:off x="17736017" y="27099973"/>
            <a:ext cx="19612566" cy="42944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0" name="Group 29"/>
          <p:cNvGrpSpPr/>
          <p:nvPr/>
        </p:nvGrpSpPr>
        <p:grpSpPr>
          <a:xfrm>
            <a:off x="304800" y="9104243"/>
            <a:ext cx="18623321" cy="9326581"/>
            <a:chOff x="300387" y="9314788"/>
            <a:chExt cx="18623321" cy="9326581"/>
          </a:xfrm>
        </p:grpSpPr>
        <p:grpSp>
          <p:nvGrpSpPr>
            <p:cNvPr id="24" name="Group 23"/>
            <p:cNvGrpSpPr/>
            <p:nvPr/>
          </p:nvGrpSpPr>
          <p:grpSpPr>
            <a:xfrm>
              <a:off x="300387" y="9314788"/>
              <a:ext cx="3180232" cy="5619267"/>
              <a:chOff x="300387" y="9218041"/>
              <a:chExt cx="3180232" cy="5876629"/>
            </a:xfrm>
          </p:grpSpPr>
          <p:sp>
            <p:nvSpPr>
              <p:cNvPr id="148" name="TextBox 147"/>
              <p:cNvSpPr txBox="1"/>
              <p:nvPr/>
            </p:nvSpPr>
            <p:spPr>
              <a:xfrm>
                <a:off x="300387" y="9218041"/>
                <a:ext cx="3180232" cy="5876629"/>
              </a:xfrm>
              <a:prstGeom prst="rect">
                <a:avLst/>
              </a:prstGeom>
              <a:noFill/>
              <a:ln w="63500">
                <a:solidFill>
                  <a:srgbClr val="92D05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anchor="b"/>
              <a:lstStyle/>
              <a:p>
                <a:pPr algn="ctr">
                  <a:defRPr/>
                </a:pPr>
                <a:r>
                  <a:rPr lang="en-US" sz="5400" dirty="0" smtClean="0">
                    <a:solidFill>
                      <a:schemeClr val="bg1"/>
                    </a:solidFill>
                  </a:rPr>
                  <a:t>t = 1</a:t>
                </a:r>
                <a:endParaRPr lang="en-US" sz="6600" dirty="0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4134" name="Straight Connector 4133"/>
              <p:cNvCxnSpPr/>
              <p:nvPr/>
            </p:nvCxnSpPr>
            <p:spPr>
              <a:xfrm flipV="1">
                <a:off x="873433" y="11874500"/>
                <a:ext cx="735013" cy="941387"/>
              </a:xfrm>
              <a:prstGeom prst="line">
                <a:avLst/>
              </a:prstGeom>
              <a:ln w="762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36" name="Straight Connector 4135"/>
              <p:cNvCxnSpPr/>
              <p:nvPr/>
            </p:nvCxnSpPr>
            <p:spPr>
              <a:xfrm>
                <a:off x="2005320" y="11725517"/>
                <a:ext cx="761795" cy="1163063"/>
              </a:xfrm>
              <a:prstGeom prst="line">
                <a:avLst/>
              </a:prstGeom>
              <a:ln w="762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31" name="Oval 4130"/>
              <p:cNvSpPr/>
              <p:nvPr/>
            </p:nvSpPr>
            <p:spPr>
              <a:xfrm>
                <a:off x="432005" y="9508111"/>
                <a:ext cx="845497" cy="926231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r>
                  <a:rPr lang="en-US" sz="6600" b="1" i="1" dirty="0">
                    <a:solidFill>
                      <a:schemeClr val="tx1"/>
                    </a:solidFill>
                  </a:rPr>
                  <a:t>b</a:t>
                </a:r>
              </a:p>
            </p:txBody>
          </p:sp>
          <p:sp>
            <p:nvSpPr>
              <p:cNvPr id="101" name="Oval 100"/>
              <p:cNvSpPr/>
              <p:nvPr/>
            </p:nvSpPr>
            <p:spPr>
              <a:xfrm>
                <a:off x="2460570" y="9547440"/>
                <a:ext cx="850392" cy="92354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r>
                  <a:rPr lang="en-US" sz="6600" b="1" i="1" dirty="0">
                    <a:solidFill>
                      <a:schemeClr val="tx1"/>
                    </a:solidFill>
                  </a:rPr>
                  <a:t>c</a:t>
                </a:r>
              </a:p>
            </p:txBody>
          </p:sp>
          <p:sp>
            <p:nvSpPr>
              <p:cNvPr id="103" name="Oval 102"/>
              <p:cNvSpPr/>
              <p:nvPr/>
            </p:nvSpPr>
            <p:spPr>
              <a:xfrm>
                <a:off x="427513" y="12728477"/>
                <a:ext cx="845497" cy="923544"/>
              </a:xfrm>
              <a:prstGeom prst="ellipse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sz="6600" b="1" i="1" dirty="0" smtClean="0">
                    <a:solidFill>
                      <a:schemeClr val="tx1"/>
                    </a:solidFill>
                  </a:rPr>
                  <a:t>d</a:t>
                </a:r>
                <a:endParaRPr lang="en-US" sz="6600" b="1" i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4" name="Oval 103"/>
              <p:cNvSpPr/>
              <p:nvPr/>
            </p:nvSpPr>
            <p:spPr>
              <a:xfrm>
                <a:off x="2466382" y="12661621"/>
                <a:ext cx="850392" cy="923544"/>
              </a:xfrm>
              <a:prstGeom prst="ellipse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sz="6600" b="1" i="1" dirty="0" smtClean="0">
                    <a:solidFill>
                      <a:schemeClr val="tx1"/>
                    </a:solidFill>
                  </a:rPr>
                  <a:t>e</a:t>
                </a:r>
                <a:endParaRPr lang="en-US" sz="6600" b="1" i="1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4138" name="Straight Connector 4137"/>
              <p:cNvCxnSpPr/>
              <p:nvPr/>
            </p:nvCxnSpPr>
            <p:spPr>
              <a:xfrm>
                <a:off x="1136782" y="10271926"/>
                <a:ext cx="625475" cy="1049337"/>
              </a:xfrm>
              <a:prstGeom prst="line">
                <a:avLst/>
              </a:prstGeom>
              <a:ln w="762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40" name="Straight Connector 4139"/>
              <p:cNvCxnSpPr/>
              <p:nvPr/>
            </p:nvCxnSpPr>
            <p:spPr>
              <a:xfrm flipH="1">
                <a:off x="2097970" y="10279497"/>
                <a:ext cx="665205" cy="1085288"/>
              </a:xfrm>
              <a:prstGeom prst="line">
                <a:avLst/>
              </a:prstGeom>
              <a:ln w="762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2" name="Oval 101"/>
              <p:cNvSpPr/>
              <p:nvPr/>
            </p:nvSpPr>
            <p:spPr>
              <a:xfrm>
                <a:off x="1455661" y="11160608"/>
                <a:ext cx="854357" cy="92447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sz="6600" b="1" i="1" dirty="0" smtClean="0">
                    <a:solidFill>
                      <a:schemeClr val="tx1"/>
                    </a:solidFill>
                  </a:rPr>
                  <a:t>a</a:t>
                </a:r>
                <a:endParaRPr lang="en-US" sz="6600" i="1" dirty="0"/>
              </a:p>
            </p:txBody>
          </p:sp>
        </p:grpSp>
        <p:grpSp>
          <p:nvGrpSpPr>
            <p:cNvPr id="27" name="Group 26"/>
            <p:cNvGrpSpPr/>
            <p:nvPr/>
          </p:nvGrpSpPr>
          <p:grpSpPr>
            <a:xfrm>
              <a:off x="11874911" y="9314788"/>
              <a:ext cx="3180232" cy="5619267"/>
              <a:chOff x="11953893" y="9247335"/>
              <a:chExt cx="3180232" cy="5876629"/>
            </a:xfrm>
          </p:grpSpPr>
          <p:sp>
            <p:nvSpPr>
              <p:cNvPr id="113" name="TextBox 112"/>
              <p:cNvSpPr txBox="1"/>
              <p:nvPr/>
            </p:nvSpPr>
            <p:spPr>
              <a:xfrm>
                <a:off x="11953893" y="9247335"/>
                <a:ext cx="3180232" cy="5876629"/>
              </a:xfrm>
              <a:prstGeom prst="rect">
                <a:avLst/>
              </a:prstGeom>
              <a:noFill/>
              <a:ln w="63500">
                <a:solidFill>
                  <a:srgbClr val="92D05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anchor="b"/>
              <a:lstStyle/>
              <a:p>
                <a:pPr algn="ctr">
                  <a:defRPr/>
                </a:pPr>
                <a:r>
                  <a:rPr lang="en-US" sz="5400" dirty="0" smtClean="0">
                    <a:solidFill>
                      <a:schemeClr val="bg1"/>
                    </a:solidFill>
                  </a:rPr>
                  <a:t>t = 4</a:t>
                </a:r>
                <a:endParaRPr lang="en-US" sz="66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86" name="Oval 85"/>
              <p:cNvSpPr/>
              <p:nvPr/>
            </p:nvSpPr>
            <p:spPr>
              <a:xfrm>
                <a:off x="12116667" y="9521352"/>
                <a:ext cx="845497" cy="926231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r>
                  <a:rPr lang="en-US" sz="6600" b="1" i="1" dirty="0">
                    <a:solidFill>
                      <a:schemeClr val="tx1"/>
                    </a:solidFill>
                  </a:rPr>
                  <a:t>b</a:t>
                </a:r>
              </a:p>
            </p:txBody>
          </p:sp>
          <p:sp>
            <p:nvSpPr>
              <p:cNvPr id="87" name="Oval 86"/>
              <p:cNvSpPr/>
              <p:nvPr/>
            </p:nvSpPr>
            <p:spPr>
              <a:xfrm>
                <a:off x="14145232" y="9560681"/>
                <a:ext cx="850392" cy="92354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r>
                  <a:rPr lang="en-US" sz="6600" b="1" i="1" dirty="0">
                    <a:solidFill>
                      <a:schemeClr val="tx1"/>
                    </a:solidFill>
                  </a:rPr>
                  <a:t>c</a:t>
                </a:r>
              </a:p>
            </p:txBody>
          </p:sp>
          <p:cxnSp>
            <p:nvCxnSpPr>
              <p:cNvPr id="90" name="Straight Connector 89"/>
              <p:cNvCxnSpPr>
                <a:endCxn id="87" idx="2"/>
              </p:cNvCxnSpPr>
              <p:nvPr/>
            </p:nvCxnSpPr>
            <p:spPr>
              <a:xfrm>
                <a:off x="12891804" y="10022453"/>
                <a:ext cx="1253428" cy="0"/>
              </a:xfrm>
              <a:prstGeom prst="line">
                <a:avLst/>
              </a:prstGeom>
              <a:ln w="762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/>
            <p:cNvGrpSpPr/>
            <p:nvPr/>
          </p:nvGrpSpPr>
          <p:grpSpPr>
            <a:xfrm>
              <a:off x="8016737" y="9314788"/>
              <a:ext cx="3180232" cy="5619267"/>
              <a:chOff x="7543800" y="9259957"/>
              <a:chExt cx="3180232" cy="5876629"/>
            </a:xfrm>
          </p:grpSpPr>
          <p:sp>
            <p:nvSpPr>
              <p:cNvPr id="109" name="TextBox 108"/>
              <p:cNvSpPr txBox="1"/>
              <p:nvPr/>
            </p:nvSpPr>
            <p:spPr>
              <a:xfrm>
                <a:off x="7543800" y="9259957"/>
                <a:ext cx="3180232" cy="5876629"/>
              </a:xfrm>
              <a:prstGeom prst="rect">
                <a:avLst/>
              </a:prstGeom>
              <a:noFill/>
              <a:ln w="63500">
                <a:solidFill>
                  <a:srgbClr val="92D05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anchor="b"/>
              <a:lstStyle/>
              <a:p>
                <a:pPr algn="ctr">
                  <a:defRPr/>
                </a:pPr>
                <a:r>
                  <a:rPr lang="en-US" sz="5400" dirty="0" smtClean="0">
                    <a:solidFill>
                      <a:schemeClr val="bg1"/>
                    </a:solidFill>
                  </a:rPr>
                  <a:t>t = 3</a:t>
                </a:r>
                <a:endParaRPr lang="en-US" sz="6600" dirty="0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71" name="Straight Connector 70"/>
              <p:cNvCxnSpPr/>
              <p:nvPr/>
            </p:nvCxnSpPr>
            <p:spPr>
              <a:xfrm flipV="1">
                <a:off x="8085669" y="11891339"/>
                <a:ext cx="735013" cy="941387"/>
              </a:xfrm>
              <a:prstGeom prst="line">
                <a:avLst/>
              </a:prstGeom>
              <a:ln w="762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/>
              <p:cNvCxnSpPr/>
              <p:nvPr/>
            </p:nvCxnSpPr>
            <p:spPr>
              <a:xfrm>
                <a:off x="9217556" y="11742356"/>
                <a:ext cx="761795" cy="1163063"/>
              </a:xfrm>
              <a:prstGeom prst="line">
                <a:avLst/>
              </a:prstGeom>
              <a:ln w="762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3" name="Oval 72"/>
              <p:cNvSpPr/>
              <p:nvPr/>
            </p:nvSpPr>
            <p:spPr>
              <a:xfrm>
                <a:off x="7644241" y="9524950"/>
                <a:ext cx="845497" cy="926231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r>
                  <a:rPr lang="en-US" sz="6600" b="1" i="1" dirty="0">
                    <a:solidFill>
                      <a:schemeClr val="tx1"/>
                    </a:solidFill>
                  </a:rPr>
                  <a:t>b</a:t>
                </a:r>
              </a:p>
            </p:txBody>
          </p:sp>
          <p:sp>
            <p:nvSpPr>
              <p:cNvPr id="74" name="Oval 73"/>
              <p:cNvSpPr/>
              <p:nvPr/>
            </p:nvSpPr>
            <p:spPr>
              <a:xfrm>
                <a:off x="9672806" y="9564279"/>
                <a:ext cx="850392" cy="92354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r>
                  <a:rPr lang="en-US" sz="6600" b="1" i="1" dirty="0">
                    <a:solidFill>
                      <a:schemeClr val="tx1"/>
                    </a:solidFill>
                  </a:rPr>
                  <a:t>c</a:t>
                </a:r>
              </a:p>
            </p:txBody>
          </p:sp>
          <p:sp>
            <p:nvSpPr>
              <p:cNvPr id="76" name="Oval 75"/>
              <p:cNvSpPr/>
              <p:nvPr/>
            </p:nvSpPr>
            <p:spPr>
              <a:xfrm>
                <a:off x="7639749" y="12745316"/>
                <a:ext cx="845497" cy="923544"/>
              </a:xfrm>
              <a:prstGeom prst="ellipse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sz="6600" b="1" i="1" dirty="0" smtClean="0">
                    <a:solidFill>
                      <a:schemeClr val="tx1"/>
                    </a:solidFill>
                  </a:rPr>
                  <a:t>d</a:t>
                </a:r>
                <a:endParaRPr lang="en-US" sz="6600" b="1" i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9" name="Oval 78"/>
              <p:cNvSpPr/>
              <p:nvPr/>
            </p:nvSpPr>
            <p:spPr>
              <a:xfrm>
                <a:off x="9678618" y="12678460"/>
                <a:ext cx="850392" cy="923544"/>
              </a:xfrm>
              <a:prstGeom prst="ellipse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sz="6600" b="1" i="1" dirty="0" smtClean="0">
                    <a:solidFill>
                      <a:schemeClr val="tx1"/>
                    </a:solidFill>
                  </a:rPr>
                  <a:t>e</a:t>
                </a:r>
                <a:endParaRPr lang="en-US" sz="6600" b="1" i="1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11" name="Straight Connector 110"/>
              <p:cNvCxnSpPr/>
              <p:nvPr/>
            </p:nvCxnSpPr>
            <p:spPr>
              <a:xfrm flipH="1">
                <a:off x="9243028" y="10363578"/>
                <a:ext cx="665205" cy="1085288"/>
              </a:xfrm>
              <a:prstGeom prst="line">
                <a:avLst/>
              </a:prstGeom>
              <a:ln w="762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/>
              <p:cNvCxnSpPr/>
              <p:nvPr/>
            </p:nvCxnSpPr>
            <p:spPr>
              <a:xfrm>
                <a:off x="8281840" y="10356007"/>
                <a:ext cx="625475" cy="1049337"/>
              </a:xfrm>
              <a:prstGeom prst="line">
                <a:avLst/>
              </a:prstGeom>
              <a:ln w="762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3" name="Oval 82"/>
              <p:cNvSpPr/>
              <p:nvPr/>
            </p:nvSpPr>
            <p:spPr>
              <a:xfrm>
                <a:off x="8667897" y="11177447"/>
                <a:ext cx="854357" cy="92447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sz="6600" b="1" i="1" dirty="0" smtClean="0">
                    <a:solidFill>
                      <a:schemeClr val="tx1"/>
                    </a:solidFill>
                  </a:rPr>
                  <a:t>a</a:t>
                </a:r>
                <a:endParaRPr lang="en-US" sz="6600" i="1" dirty="0"/>
              </a:p>
            </p:txBody>
          </p:sp>
        </p:grpSp>
        <p:grpSp>
          <p:nvGrpSpPr>
            <p:cNvPr id="28" name="Group 27"/>
            <p:cNvGrpSpPr/>
            <p:nvPr/>
          </p:nvGrpSpPr>
          <p:grpSpPr>
            <a:xfrm>
              <a:off x="15733085" y="9314788"/>
              <a:ext cx="3180232" cy="5619267"/>
              <a:chOff x="15733085" y="9214370"/>
              <a:chExt cx="3180232" cy="5876629"/>
            </a:xfrm>
          </p:grpSpPr>
          <p:cxnSp>
            <p:nvCxnSpPr>
              <p:cNvPr id="94" name="Straight Connector 93"/>
              <p:cNvCxnSpPr/>
              <p:nvPr/>
            </p:nvCxnSpPr>
            <p:spPr>
              <a:xfrm flipV="1">
                <a:off x="16348778" y="11849597"/>
                <a:ext cx="735013" cy="941387"/>
              </a:xfrm>
              <a:prstGeom prst="line">
                <a:avLst/>
              </a:prstGeom>
              <a:ln w="762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/>
              <p:cNvCxnSpPr/>
              <p:nvPr/>
            </p:nvCxnSpPr>
            <p:spPr>
              <a:xfrm>
                <a:off x="17480665" y="11700614"/>
                <a:ext cx="761795" cy="1163063"/>
              </a:xfrm>
              <a:prstGeom prst="line">
                <a:avLst/>
              </a:prstGeom>
              <a:ln w="762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8" name="Oval 97"/>
              <p:cNvSpPr/>
              <p:nvPr/>
            </p:nvSpPr>
            <p:spPr>
              <a:xfrm>
                <a:off x="15902858" y="12703574"/>
                <a:ext cx="845497" cy="923544"/>
              </a:xfrm>
              <a:prstGeom prst="ellipse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sz="6600" b="1" i="1" dirty="0" smtClean="0">
                    <a:solidFill>
                      <a:schemeClr val="tx1"/>
                    </a:solidFill>
                  </a:rPr>
                  <a:t>d</a:t>
                </a:r>
                <a:endParaRPr lang="en-US" sz="6600" b="1" i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9" name="Oval 98"/>
              <p:cNvSpPr/>
              <p:nvPr/>
            </p:nvSpPr>
            <p:spPr>
              <a:xfrm>
                <a:off x="17941727" y="12636718"/>
                <a:ext cx="850392" cy="923544"/>
              </a:xfrm>
              <a:prstGeom prst="ellipse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sz="6600" b="1" i="1" dirty="0" smtClean="0">
                    <a:solidFill>
                      <a:schemeClr val="tx1"/>
                    </a:solidFill>
                  </a:rPr>
                  <a:t>e</a:t>
                </a:r>
                <a:endParaRPr lang="en-US" sz="6600" b="1" i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7" name="Oval 106"/>
              <p:cNvSpPr/>
              <p:nvPr/>
            </p:nvSpPr>
            <p:spPr>
              <a:xfrm>
                <a:off x="16931006" y="11135705"/>
                <a:ext cx="854357" cy="92447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sz="6600" b="1" i="1" dirty="0" smtClean="0">
                    <a:solidFill>
                      <a:schemeClr val="tx1"/>
                    </a:solidFill>
                  </a:rPr>
                  <a:t>a</a:t>
                </a:r>
                <a:endParaRPr lang="en-US" sz="6600" i="1" dirty="0"/>
              </a:p>
            </p:txBody>
          </p:sp>
          <p:sp>
            <p:nvSpPr>
              <p:cNvPr id="112" name="TextBox 111"/>
              <p:cNvSpPr txBox="1"/>
              <p:nvPr/>
            </p:nvSpPr>
            <p:spPr>
              <a:xfrm>
                <a:off x="15733085" y="9214370"/>
                <a:ext cx="3180232" cy="5876629"/>
              </a:xfrm>
              <a:prstGeom prst="rect">
                <a:avLst/>
              </a:prstGeom>
              <a:noFill/>
              <a:ln w="63500">
                <a:solidFill>
                  <a:srgbClr val="92D05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anchor="b"/>
              <a:lstStyle/>
              <a:p>
                <a:pPr algn="ctr">
                  <a:defRPr/>
                </a:pPr>
                <a:r>
                  <a:rPr lang="en-US" sz="5400" dirty="0" smtClean="0">
                    <a:solidFill>
                      <a:schemeClr val="bg1"/>
                    </a:solidFill>
                  </a:rPr>
                  <a:t>t = 5</a:t>
                </a:r>
                <a:endParaRPr lang="en-US" sz="66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9" name="Group 18"/>
            <p:cNvGrpSpPr/>
            <p:nvPr/>
          </p:nvGrpSpPr>
          <p:grpSpPr>
            <a:xfrm>
              <a:off x="4158562" y="9314788"/>
              <a:ext cx="3180232" cy="5619267"/>
              <a:chOff x="3997670" y="9262924"/>
              <a:chExt cx="3180232" cy="5876629"/>
            </a:xfrm>
          </p:grpSpPr>
          <p:sp>
            <p:nvSpPr>
              <p:cNvPr id="108" name="TextBox 107"/>
              <p:cNvSpPr txBox="1"/>
              <p:nvPr/>
            </p:nvSpPr>
            <p:spPr>
              <a:xfrm>
                <a:off x="3997670" y="9262924"/>
                <a:ext cx="3180232" cy="5876629"/>
              </a:xfrm>
              <a:prstGeom prst="rect">
                <a:avLst/>
              </a:prstGeom>
              <a:noFill/>
              <a:ln w="63500">
                <a:solidFill>
                  <a:srgbClr val="92D05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anchor="b"/>
              <a:lstStyle/>
              <a:p>
                <a:pPr algn="ctr">
                  <a:defRPr/>
                </a:pPr>
                <a:r>
                  <a:rPr lang="en-US" sz="5400" dirty="0" smtClean="0">
                    <a:solidFill>
                      <a:schemeClr val="bg1"/>
                    </a:solidFill>
                  </a:rPr>
                  <a:t>t = 2</a:t>
                </a:r>
                <a:endParaRPr lang="en-US" sz="6600" dirty="0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114" name="Straight Connector 113"/>
              <p:cNvCxnSpPr/>
              <p:nvPr/>
            </p:nvCxnSpPr>
            <p:spPr>
              <a:xfrm flipV="1">
                <a:off x="4617152" y="11886294"/>
                <a:ext cx="735013" cy="941387"/>
              </a:xfrm>
              <a:prstGeom prst="line">
                <a:avLst/>
              </a:prstGeom>
              <a:ln w="762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5" name="Oval 114"/>
              <p:cNvSpPr/>
              <p:nvPr/>
            </p:nvSpPr>
            <p:spPr>
              <a:xfrm>
                <a:off x="4171232" y="12740271"/>
                <a:ext cx="845497" cy="923544"/>
              </a:xfrm>
              <a:prstGeom prst="ellipse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sz="6600" b="1" i="1" dirty="0" smtClean="0">
                    <a:solidFill>
                      <a:schemeClr val="tx1"/>
                    </a:solidFill>
                  </a:rPr>
                  <a:t>d</a:t>
                </a:r>
                <a:endParaRPr lang="en-US" sz="6600" b="1" i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6" name="Oval 115"/>
              <p:cNvSpPr/>
              <p:nvPr/>
            </p:nvSpPr>
            <p:spPr>
              <a:xfrm>
                <a:off x="5199380" y="11172402"/>
                <a:ext cx="854357" cy="92447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sz="6600" b="1" i="1" dirty="0" smtClean="0">
                    <a:solidFill>
                      <a:schemeClr val="tx1"/>
                    </a:solidFill>
                  </a:rPr>
                  <a:t>a</a:t>
                </a:r>
                <a:endParaRPr lang="en-US" sz="6600" i="1" dirty="0"/>
              </a:p>
            </p:txBody>
          </p:sp>
        </p:grpSp>
        <p:sp>
          <p:nvSpPr>
            <p:cNvPr id="117" name="TextBox 116"/>
            <p:cNvSpPr txBox="1"/>
            <p:nvPr/>
          </p:nvSpPr>
          <p:spPr>
            <a:xfrm>
              <a:off x="300387" y="15225049"/>
              <a:ext cx="18623321" cy="3416320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857250" indent="-857250">
                <a:buFont typeface="Wingdings" panose="05000000000000000000" pitchFamily="2" charset="2"/>
                <a:buChar char="Ø"/>
                <a:defRPr/>
              </a:pPr>
              <a:r>
                <a:rPr lang="en-US" sz="5400" dirty="0" smtClean="0"/>
                <a:t>A PSE with period </a:t>
              </a:r>
              <a:r>
                <a:rPr lang="en-US" sz="5400" i="1" dirty="0" smtClean="0"/>
                <a:t>p </a:t>
              </a:r>
              <a:r>
                <a:rPr lang="en-US" sz="5400" dirty="0" smtClean="0"/>
                <a:t>and support </a:t>
              </a:r>
              <a:r>
                <a:rPr lang="en-US" sz="5400" i="1" dirty="0" smtClean="0"/>
                <a:t>s </a:t>
              </a:r>
              <a:r>
                <a:rPr lang="en-US" sz="5400" dirty="0" smtClean="0"/>
                <a:t>is a subgraph which occurs in at least </a:t>
              </a:r>
              <a:r>
                <a:rPr lang="en-US" sz="5400" i="1" dirty="0" smtClean="0"/>
                <a:t>s </a:t>
              </a:r>
              <a:r>
                <a:rPr lang="en-US" sz="5400" dirty="0" smtClean="0"/>
                <a:t>graphs that are separated by p timepoints.</a:t>
              </a:r>
            </a:p>
            <a:p>
              <a:pPr marL="857250" indent="-857250">
                <a:buFont typeface="Wingdings" panose="05000000000000000000" pitchFamily="2" charset="2"/>
                <a:buChar char="Ø"/>
                <a:defRPr/>
              </a:pPr>
              <a:r>
                <a:rPr lang="en-US" sz="5400" dirty="0" smtClean="0"/>
                <a:t>Here {(</a:t>
              </a:r>
              <a:r>
                <a:rPr lang="en-US" sz="5400" dirty="0" err="1" smtClean="0"/>
                <a:t>a,d</a:t>
              </a:r>
              <a:r>
                <a:rPr lang="en-US" sz="5400" dirty="0" smtClean="0"/>
                <a:t>), (</a:t>
              </a:r>
              <a:r>
                <a:rPr lang="en-US" sz="5400" dirty="0" err="1" smtClean="0"/>
                <a:t>d,e</a:t>
              </a:r>
              <a:r>
                <a:rPr lang="en-US" sz="5400" dirty="0" smtClean="0"/>
                <a:t>)} is a PSE with period 2 and support 3.</a:t>
              </a:r>
            </a:p>
            <a:p>
              <a:pPr marL="857250" indent="-857250">
                <a:buFont typeface="Wingdings" panose="05000000000000000000" pitchFamily="2" charset="2"/>
                <a:buChar char="Ø"/>
                <a:defRPr/>
              </a:pPr>
              <a:r>
                <a:rPr lang="en-US" sz="5400" dirty="0" smtClean="0"/>
                <a:t>{(</a:t>
              </a:r>
              <a:r>
                <a:rPr lang="en-US" sz="5400" dirty="0" err="1" smtClean="0"/>
                <a:t>a,d</a:t>
              </a:r>
              <a:r>
                <a:rPr lang="en-US" sz="5400" dirty="0" smtClean="0"/>
                <a:t>)} is another PSE with period 1 and support 3.</a:t>
              </a:r>
              <a:endParaRPr lang="en-US" dirty="0"/>
            </a:p>
          </p:txBody>
        </p:sp>
      </p:grpSp>
      <p:sp>
        <p:nvSpPr>
          <p:cNvPr id="120" name="TextBox 119"/>
          <p:cNvSpPr txBox="1"/>
          <p:nvPr/>
        </p:nvSpPr>
        <p:spPr>
          <a:xfrm>
            <a:off x="300387" y="25720893"/>
            <a:ext cx="17201060" cy="674030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857250" indent="-857250">
              <a:buFont typeface="Wingdings" panose="05000000000000000000" pitchFamily="2" charset="2"/>
              <a:buChar char="Ø"/>
              <a:defRPr/>
            </a:pPr>
            <a:r>
              <a:rPr lang="en-US" sz="5400" dirty="0"/>
              <a:t>Choose </a:t>
            </a:r>
            <a:r>
              <a:rPr lang="en-US" sz="5400" dirty="0" smtClean="0"/>
              <a:t>suitable period (p) </a:t>
            </a:r>
            <a:r>
              <a:rPr lang="en-US" sz="5400" dirty="0"/>
              <a:t>and </a:t>
            </a:r>
            <a:r>
              <a:rPr lang="en-US" sz="5400" dirty="0" smtClean="0"/>
              <a:t>support (s) cut-offs.</a:t>
            </a:r>
            <a:endParaRPr lang="en-US" sz="5400" dirty="0"/>
          </a:p>
          <a:p>
            <a:pPr marL="857250" indent="-857250">
              <a:buFont typeface="Wingdings" panose="05000000000000000000" pitchFamily="2" charset="2"/>
              <a:buChar char="Ø"/>
              <a:defRPr/>
            </a:pPr>
            <a:r>
              <a:rPr lang="en-US" sz="5400" dirty="0" smtClean="0"/>
              <a:t>Compute PSEs with </a:t>
            </a:r>
            <a:r>
              <a:rPr lang="en-US" sz="5400" dirty="0" err="1" smtClean="0"/>
              <a:t>ListMiner</a:t>
            </a:r>
            <a:r>
              <a:rPr lang="en-US" sz="5400" dirty="0" smtClean="0"/>
              <a:t> tool [1] using those cut-offs as parameters.</a:t>
            </a:r>
            <a:endParaRPr lang="en-US" sz="5400" dirty="0"/>
          </a:p>
          <a:p>
            <a:pPr marL="857250" indent="-857250">
              <a:buFont typeface="Wingdings" panose="05000000000000000000" pitchFamily="2" charset="2"/>
              <a:buChar char="Ø"/>
              <a:defRPr/>
            </a:pPr>
            <a:r>
              <a:rPr lang="en-US" sz="5400" dirty="0" smtClean="0"/>
              <a:t>Find the largest connected component in those PSEs.</a:t>
            </a:r>
          </a:p>
          <a:p>
            <a:pPr marL="857250" indent="-857250">
              <a:buFont typeface="Wingdings" panose="05000000000000000000" pitchFamily="2" charset="2"/>
              <a:buChar char="Ø"/>
              <a:defRPr/>
            </a:pPr>
            <a:r>
              <a:rPr lang="en-US" sz="5400" dirty="0" smtClean="0"/>
              <a:t>Compute functional enrichment of </a:t>
            </a:r>
            <a:r>
              <a:rPr lang="en-US" sz="5400" dirty="0"/>
              <a:t>genes covered by </a:t>
            </a:r>
            <a:r>
              <a:rPr lang="en-US" sz="5400" dirty="0" smtClean="0"/>
              <a:t>this component using MGSA algorithm [3].</a:t>
            </a:r>
            <a:endParaRPr lang="en-US" sz="5400" dirty="0"/>
          </a:p>
          <a:p>
            <a:pPr marL="857250" indent="-857250">
              <a:buFont typeface="Wingdings" panose="05000000000000000000" pitchFamily="2" charset="2"/>
              <a:buChar char="Ø"/>
              <a:defRPr/>
            </a:pPr>
            <a:r>
              <a:rPr lang="en-US" sz="5400" dirty="0" smtClean="0"/>
              <a:t>Sort the nodes (genes) in that component by their degrees and compute the enrichment of this sorted list [4].</a:t>
            </a:r>
            <a:endParaRPr lang="en-US" dirty="0"/>
          </a:p>
        </p:txBody>
      </p:sp>
      <p:sp>
        <p:nvSpPr>
          <p:cNvPr id="122" name="Rounded Rectangle 121"/>
          <p:cNvSpPr/>
          <p:nvPr/>
        </p:nvSpPr>
        <p:spPr>
          <a:xfrm>
            <a:off x="300387" y="24124920"/>
            <a:ext cx="17190317" cy="1325880"/>
          </a:xfrm>
          <a:prstGeom prst="roundRect">
            <a:avLst/>
          </a:prstGeom>
          <a:solidFill>
            <a:srgbClr val="00B050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Method</a:t>
            </a:r>
            <a:endParaRPr 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3" name="TextBox 122"/>
          <p:cNvSpPr txBox="1"/>
          <p:nvPr/>
        </p:nvSpPr>
        <p:spPr>
          <a:xfrm>
            <a:off x="17789776" y="31537870"/>
            <a:ext cx="19508501" cy="92333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5400" dirty="0" smtClean="0"/>
              <a:t>Both PSEs gave the same enrichment in the analysis of sorted lists.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3315</TotalTime>
  <Words>530</Words>
  <Application>Microsoft Office PowerPoint</Application>
  <PresentationFormat>Custom</PresentationFormat>
  <Paragraphs>60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Calibri</vt:lpstr>
      <vt:lpstr>Times New Roman</vt:lpstr>
      <vt:lpstr>Wingdings</vt:lpstr>
      <vt:lpstr>Default Design</vt:lpstr>
      <vt:lpstr>PowerPoint Presentation</vt:lpstr>
    </vt:vector>
  </TitlesOfParts>
  <Company>The New England College of Optometry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Poster Template</dc:title>
  <dc:subject>Poster Template</dc:subject>
  <dc:creator>Marek Jacisin</dc:creator>
  <cp:lastModifiedBy>Md Shafiqul Islam Shuvo</cp:lastModifiedBy>
  <cp:revision>145</cp:revision>
  <dcterms:created xsi:type="dcterms:W3CDTF">2001-10-18T16:42:36Z</dcterms:created>
  <dcterms:modified xsi:type="dcterms:W3CDTF">2019-03-04T12:25:02Z</dcterms:modified>
</cp:coreProperties>
</file>